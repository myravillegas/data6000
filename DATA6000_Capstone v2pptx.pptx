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10287000" cx="18288000"/>
  <p:notesSz cx="6858000" cy="9144000"/>
  <p:embeddedFontLst>
    <p:embeddedFont>
      <p:font typeface="Caveat"/>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gSi8zXKRWqXZ5suWm2zBsXK/X4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3182D0-8AAF-4D1C-B93B-24CD85127A34}">
  <a:tblStyle styleId="{3D3182D0-8AAF-4D1C-B93B-24CD85127A3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Caveat-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Cavea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76fa3d5dd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3b76fa3d5dd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references:</a:t>
            </a:r>
            <a:endParaRPr/>
          </a:p>
          <a:p>
            <a:pPr indent="0" lvl="0" marL="0" rtl="0" algn="l">
              <a:lnSpc>
                <a:spcPct val="100000"/>
              </a:lnSpc>
              <a:spcBef>
                <a:spcPts val="0"/>
              </a:spcBef>
              <a:spcAft>
                <a:spcPts val="0"/>
              </a:spcAft>
              <a:buSzPts val="1100"/>
              <a:buNone/>
            </a:pPr>
            <a:r>
              <a:rPr lang="en-US"/>
              <a:t>file:///Users/myravillegas/Downloads/202012%20NDIS%20Market%20SA.pdf  </a:t>
            </a:r>
            <a:endParaRPr/>
          </a:p>
          <a:p>
            <a:pPr indent="0" lvl="0" marL="0" rtl="0" algn="l">
              <a:lnSpc>
                <a:spcPct val="100000"/>
              </a:lnSpc>
              <a:spcBef>
                <a:spcPts val="0"/>
              </a:spcBef>
              <a:spcAft>
                <a:spcPts val="0"/>
              </a:spcAft>
              <a:buSzPts val="1100"/>
              <a:buNone/>
            </a:pPr>
            <a:r>
              <a:rPr lang="en-US"/>
              <a:t>NDIS dashboard</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6443afb2b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g3b6443afb2b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6443afb2b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g3b6443afb2b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6443afb2b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3b6443afb2b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76fa3d5dd_0_4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b="1" lang="en-US">
                <a:solidFill>
                  <a:schemeClr val="dk1"/>
                </a:solidFill>
              </a:rPr>
              <a:t>Use state-level NDIS growth trends to project regional participants forward, holding the regional share constant.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called a </a:t>
            </a:r>
            <a:r>
              <a:rPr b="1" lang="en-US">
                <a:solidFill>
                  <a:schemeClr val="dk1"/>
                </a:solidFill>
              </a:rPr>
              <a:t>top-down allocation forecast</a:t>
            </a:r>
            <a:r>
              <a:rPr lang="en-US">
                <a:solidFill>
                  <a:schemeClr val="dk1"/>
                </a:solidFill>
              </a:rPr>
              <a:t>. It is widely used in policy planning.</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23" name="Google Shape;223;g3b76fa3d5dd_0_4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76fa3d5dd_0_5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3b76fa3d5dd_0_5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b76fa3d5dd_0_5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3b76fa3d5dd_0_5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76fa3d5dd_0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b76fa3d5dd_0_5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76fa3d5dd_0_5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g3b76fa3d5dd_0_5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www.sasi.org.au/navigating-the-ndis-maze-expert-tips-for-maximising-specialist-support-coordinatio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jpg"/><Relationship Id="rId4"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C987C"/>
        </a:solidFill>
      </p:bgPr>
    </p:bg>
    <p:spTree>
      <p:nvGrpSpPr>
        <p:cNvPr id="83" name="Shape 83"/>
        <p:cNvGrpSpPr/>
        <p:nvPr/>
      </p:nvGrpSpPr>
      <p:grpSpPr>
        <a:xfrm>
          <a:off x="0" y="0"/>
          <a:ext cx="0" cy="0"/>
          <a:chOff x="0" y="0"/>
          <a:chExt cx="0" cy="0"/>
        </a:xfrm>
      </p:grpSpPr>
      <p:grpSp>
        <p:nvGrpSpPr>
          <p:cNvPr id="84" name="Google Shape;84;p1"/>
          <p:cNvGrpSpPr/>
          <p:nvPr/>
        </p:nvGrpSpPr>
        <p:grpSpPr>
          <a:xfrm>
            <a:off x="1028700" y="1775704"/>
            <a:ext cx="11190825" cy="4842766"/>
            <a:chOff x="0" y="996006"/>
            <a:chExt cx="14921100" cy="6457021"/>
          </a:xfrm>
        </p:grpSpPr>
        <p:sp>
          <p:nvSpPr>
            <p:cNvPr id="85" name="Google Shape;85;p1"/>
            <p:cNvSpPr txBox="1"/>
            <p:nvPr/>
          </p:nvSpPr>
          <p:spPr>
            <a:xfrm>
              <a:off x="0" y="996006"/>
              <a:ext cx="14921100" cy="5844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8900"/>
                <a:buFont typeface="Arial"/>
                <a:buNone/>
              </a:pPr>
              <a:r>
                <a:rPr b="1" i="0" lang="en-US" sz="8900" u="none" cap="none" strike="noStrike">
                  <a:solidFill>
                    <a:srgbClr val="FFFFFF"/>
                  </a:solidFill>
                  <a:latin typeface="Arial"/>
                  <a:ea typeface="Arial"/>
                  <a:cs typeface="Arial"/>
                  <a:sym typeface="Arial"/>
                </a:rPr>
                <a:t>Predicting NDIS Funding in Regional South Australia</a:t>
              </a:r>
              <a:endParaRPr b="0" i="0" sz="100" u="none" cap="none" strike="noStrike">
                <a:solidFill>
                  <a:srgbClr val="000000"/>
                </a:solidFill>
                <a:latin typeface="Arial"/>
                <a:ea typeface="Arial"/>
                <a:cs typeface="Arial"/>
                <a:sym typeface="Arial"/>
              </a:endParaRPr>
            </a:p>
          </p:txBody>
        </p:sp>
        <p:sp>
          <p:nvSpPr>
            <p:cNvPr id="86" name="Google Shape;86;p1"/>
            <p:cNvSpPr txBox="1"/>
            <p:nvPr/>
          </p:nvSpPr>
          <p:spPr>
            <a:xfrm>
              <a:off x="0" y="7165627"/>
              <a:ext cx="14921100" cy="287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7" name="Google Shape;87;p1"/>
          <p:cNvCxnSpPr/>
          <p:nvPr/>
        </p:nvCxnSpPr>
        <p:spPr>
          <a:xfrm rot="5400000">
            <a:off x="8608867" y="5129212"/>
            <a:ext cx="10287000" cy="0"/>
          </a:xfrm>
          <a:prstGeom prst="straightConnector1">
            <a:avLst/>
          </a:prstGeom>
          <a:noFill/>
          <a:ln cap="flat" cmpd="sng" w="28575">
            <a:solidFill>
              <a:srgbClr val="FFFFFF"/>
            </a:solidFill>
            <a:prstDash val="solid"/>
            <a:round/>
            <a:headEnd len="sm" w="sm" type="none"/>
            <a:tailEnd len="sm" w="sm" type="none"/>
          </a:ln>
        </p:spPr>
      </p:cxnSp>
      <p:sp>
        <p:nvSpPr>
          <p:cNvPr id="88" name="Google Shape;88;p1"/>
          <p:cNvSpPr txBox="1"/>
          <p:nvPr/>
        </p:nvSpPr>
        <p:spPr>
          <a:xfrm>
            <a:off x="14021349" y="5368425"/>
            <a:ext cx="4420200" cy="355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Presented by:</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Arial"/>
                <a:ea typeface="Arial"/>
                <a:cs typeface="Arial"/>
                <a:sym typeface="Arial"/>
              </a:rPr>
              <a:t>Myra Villegas - 1834292</a:t>
            </a:r>
            <a:endParaRPr b="0" i="0" sz="2100" u="none" cap="none" strike="noStrike">
              <a:solidFill>
                <a:srgbClr val="FFFFFF"/>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Arial"/>
                <a:ea typeface="Arial"/>
                <a:cs typeface="Arial"/>
                <a:sym typeface="Arial"/>
              </a:rPr>
              <a:t>Kaplan Business School, Adelaide</a:t>
            </a:r>
            <a:endParaRPr b="0" i="0" sz="2100" u="none" cap="none" strike="noStrike">
              <a:solidFill>
                <a:srgbClr val="FFFFFF"/>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Arial"/>
                <a:ea typeface="Arial"/>
                <a:cs typeface="Arial"/>
                <a:sym typeface="Arial"/>
              </a:rPr>
              <a:t>Masters of Business Analytics</a:t>
            </a:r>
            <a:endParaRPr b="0" i="0" sz="2100" u="none" cap="none" strike="noStrike">
              <a:solidFill>
                <a:srgbClr val="FFFFFF"/>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100"/>
              <a:buFont typeface="Arial"/>
              <a:buNone/>
            </a:pPr>
            <a:r>
              <a:t/>
            </a:r>
            <a:endParaRPr b="0" i="0" sz="2100" u="none" cap="none" strike="noStrike">
              <a:solidFill>
                <a:srgbClr val="FFFFFF"/>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Arial"/>
                <a:ea typeface="Arial"/>
                <a:cs typeface="Arial"/>
                <a:sym typeface="Arial"/>
              </a:rPr>
              <a:t>15 January 2026</a:t>
            </a:r>
            <a:endParaRPr b="0" i="0" sz="2100" u="none" cap="none" strike="noStrike">
              <a:solidFill>
                <a:srgbClr val="FFFFFF"/>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100"/>
              <a:buFont typeface="Arial"/>
              <a:buNone/>
            </a:pPr>
            <a:r>
              <a:t/>
            </a:r>
            <a:endParaRPr b="0" i="0" sz="2100" u="none" cap="none" strike="noStrike">
              <a:solidFill>
                <a:srgbClr val="FFFFFF"/>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100"/>
              <a:buFont typeface="Arial"/>
              <a:buNone/>
            </a:pPr>
            <a:r>
              <a:t/>
            </a:r>
            <a:endParaRPr b="0" i="0" sz="21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p:nvPr/>
        </p:nvSpPr>
        <p:spPr>
          <a:xfrm>
            <a:off x="0" y="-73101"/>
            <a:ext cx="18288000" cy="5718300"/>
          </a:xfrm>
          <a:prstGeom prst="rect">
            <a:avLst/>
          </a:prstGeom>
          <a:solidFill>
            <a:srgbClr val="7C98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4" name="Google Shape;94;p2"/>
          <p:cNvPicPr preferRelativeResize="0"/>
          <p:nvPr/>
        </p:nvPicPr>
        <p:blipFill rotWithShape="1">
          <a:blip r:embed="rId3">
            <a:alphaModFix amt="28000"/>
          </a:blip>
          <a:srcRect b="0" l="0" r="0" t="0"/>
          <a:stretch/>
        </p:blipFill>
        <p:spPr>
          <a:xfrm>
            <a:off x="0" y="-86875"/>
            <a:ext cx="18288000" cy="10460736"/>
          </a:xfrm>
          <a:prstGeom prst="rect">
            <a:avLst/>
          </a:prstGeom>
          <a:noFill/>
          <a:ln>
            <a:noFill/>
          </a:ln>
        </p:spPr>
      </p:pic>
      <p:sp>
        <p:nvSpPr>
          <p:cNvPr id="95" name="Google Shape;95;p2"/>
          <p:cNvSpPr txBox="1"/>
          <p:nvPr/>
        </p:nvSpPr>
        <p:spPr>
          <a:xfrm>
            <a:off x="1028700" y="3196308"/>
            <a:ext cx="8115300" cy="151441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Agenda</a:t>
            </a:r>
            <a:endParaRPr b="0" i="0" sz="1400" u="none" cap="none" strike="noStrike">
              <a:solidFill>
                <a:srgbClr val="000000"/>
              </a:solidFill>
              <a:latin typeface="Arial"/>
              <a:ea typeface="Arial"/>
              <a:cs typeface="Arial"/>
              <a:sym typeface="Arial"/>
            </a:endParaRPr>
          </a:p>
        </p:txBody>
      </p:sp>
      <p:sp>
        <p:nvSpPr>
          <p:cNvPr id="96" name="Google Shape;96;p2"/>
          <p:cNvSpPr txBox="1"/>
          <p:nvPr/>
        </p:nvSpPr>
        <p:spPr>
          <a:xfrm>
            <a:off x="1028700" y="6121488"/>
            <a:ext cx="6648300" cy="431100"/>
          </a:xfrm>
          <a:prstGeom prst="rect">
            <a:avLst/>
          </a:prstGeom>
          <a:noFill/>
          <a:ln>
            <a:noFill/>
          </a:ln>
        </p:spPr>
        <p:txBody>
          <a:bodyPr anchorCtr="0" anchor="t" bIns="0" lIns="0" spcFirstLastPara="1" rIns="0" wrap="square" tIns="0">
            <a:spAutoFit/>
          </a:bodyPr>
          <a:lstStyle/>
          <a:p>
            <a:pPr indent="-302261" lvl="1" marL="604523" marR="0" rtl="0" algn="l">
              <a:lnSpc>
                <a:spcPct val="14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What is NDIS?</a:t>
            </a:r>
            <a:endParaRPr b="0" i="0" sz="1400" u="none" cap="none" strike="noStrike">
              <a:solidFill>
                <a:srgbClr val="000000"/>
              </a:solidFill>
              <a:latin typeface="Arial"/>
              <a:ea typeface="Arial"/>
              <a:cs typeface="Arial"/>
              <a:sym typeface="Arial"/>
            </a:endParaRPr>
          </a:p>
        </p:txBody>
      </p:sp>
      <p:sp>
        <p:nvSpPr>
          <p:cNvPr id="97" name="Google Shape;97;p2"/>
          <p:cNvSpPr txBox="1"/>
          <p:nvPr/>
        </p:nvSpPr>
        <p:spPr>
          <a:xfrm>
            <a:off x="1028700" y="6741213"/>
            <a:ext cx="6534300" cy="431100"/>
          </a:xfrm>
          <a:prstGeom prst="rect">
            <a:avLst/>
          </a:prstGeom>
          <a:noFill/>
          <a:ln>
            <a:noFill/>
          </a:ln>
        </p:spPr>
        <p:txBody>
          <a:bodyPr anchorCtr="0" anchor="t" bIns="0" lIns="0" spcFirstLastPara="1" rIns="0" wrap="square" tIns="0">
            <a:spAutoFit/>
          </a:bodyPr>
          <a:lstStyle/>
          <a:p>
            <a:pPr indent="-302261" lvl="1" marL="604523" marR="0" rtl="0" algn="l">
              <a:lnSpc>
                <a:spcPct val="14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Understanding the Business Problem</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1028700" y="7360932"/>
            <a:ext cx="6024900" cy="431100"/>
          </a:xfrm>
          <a:prstGeom prst="rect">
            <a:avLst/>
          </a:prstGeom>
          <a:noFill/>
          <a:ln>
            <a:noFill/>
          </a:ln>
        </p:spPr>
        <p:txBody>
          <a:bodyPr anchorCtr="0" anchor="t" bIns="0" lIns="0" spcFirstLastPara="1" rIns="0" wrap="square" tIns="0">
            <a:spAutoFit/>
          </a:bodyPr>
          <a:lstStyle/>
          <a:p>
            <a:pPr indent="-302261" lvl="1" marL="604523" marR="0" rtl="0" algn="l">
              <a:lnSpc>
                <a:spcPct val="14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Data Sources &amp; Processing</a:t>
            </a:r>
            <a:endParaRPr b="0" i="0" sz="1400" u="none" cap="none" strike="noStrike">
              <a:solidFill>
                <a:srgbClr val="000000"/>
              </a:solidFill>
              <a:latin typeface="Arial"/>
              <a:ea typeface="Arial"/>
              <a:cs typeface="Arial"/>
              <a:sym typeface="Arial"/>
            </a:endParaRPr>
          </a:p>
        </p:txBody>
      </p:sp>
      <p:sp>
        <p:nvSpPr>
          <p:cNvPr id="99" name="Google Shape;99;p2"/>
          <p:cNvSpPr txBox="1"/>
          <p:nvPr/>
        </p:nvSpPr>
        <p:spPr>
          <a:xfrm>
            <a:off x="1028700" y="7980649"/>
            <a:ext cx="6024900" cy="431100"/>
          </a:xfrm>
          <a:prstGeom prst="rect">
            <a:avLst/>
          </a:prstGeom>
          <a:noFill/>
          <a:ln>
            <a:noFill/>
          </a:ln>
        </p:spPr>
        <p:txBody>
          <a:bodyPr anchorCtr="0" anchor="t" bIns="0" lIns="0" spcFirstLastPara="1" rIns="0" wrap="square" tIns="0">
            <a:spAutoFit/>
          </a:bodyPr>
          <a:lstStyle/>
          <a:p>
            <a:pPr indent="-302261" lvl="1" marL="604523" marR="0" rtl="0" algn="l">
              <a:lnSpc>
                <a:spcPct val="14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Data Analytics &amp; Methodology</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9814283" y="7376636"/>
            <a:ext cx="6024900" cy="431100"/>
          </a:xfrm>
          <a:prstGeom prst="rect">
            <a:avLst/>
          </a:prstGeom>
          <a:noFill/>
          <a:ln>
            <a:noFill/>
          </a:ln>
        </p:spPr>
        <p:txBody>
          <a:bodyPr anchorCtr="0" anchor="t" bIns="0" lIns="0" spcFirstLastPara="1" rIns="0" wrap="square" tIns="0">
            <a:spAutoFit/>
          </a:bodyPr>
          <a:lstStyle/>
          <a:p>
            <a:pPr indent="-302261" lvl="1" marL="604523" marR="0" rtl="0" algn="l">
              <a:lnSpc>
                <a:spcPct val="14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Brief Summary of Results</a:t>
            </a:r>
            <a:endParaRPr b="0" i="0" sz="1400" u="none" cap="none" strike="noStrike">
              <a:solidFill>
                <a:srgbClr val="000000"/>
              </a:solidFill>
              <a:latin typeface="Arial"/>
              <a:ea typeface="Arial"/>
              <a:cs typeface="Arial"/>
              <a:sym typeface="Arial"/>
            </a:endParaRPr>
          </a:p>
        </p:txBody>
      </p:sp>
      <p:sp>
        <p:nvSpPr>
          <p:cNvPr id="101" name="Google Shape;101;p2"/>
          <p:cNvSpPr txBox="1"/>
          <p:nvPr/>
        </p:nvSpPr>
        <p:spPr>
          <a:xfrm>
            <a:off x="9611165" y="6116168"/>
            <a:ext cx="7684800" cy="431100"/>
          </a:xfrm>
          <a:prstGeom prst="rect">
            <a:avLst/>
          </a:prstGeom>
          <a:noFill/>
          <a:ln>
            <a:noFill/>
          </a:ln>
        </p:spPr>
        <p:txBody>
          <a:bodyPr anchorCtr="0" anchor="t" bIns="0" lIns="0" spcFirstLastPara="1" rIns="0" wrap="square" tIns="0">
            <a:spAutoFit/>
          </a:bodyPr>
          <a:lstStyle/>
          <a:p>
            <a:pPr indent="-406400" lvl="1" marL="914400" marR="0" rtl="0" algn="l">
              <a:lnSpc>
                <a:spcPct val="115000"/>
              </a:lnSpc>
              <a:spcBef>
                <a:spcPts val="0"/>
              </a:spcBef>
              <a:spcAft>
                <a:spcPts val="0"/>
              </a:spcAft>
              <a:buClr>
                <a:srgbClr val="000000"/>
              </a:buClr>
              <a:buSzPts val="2800"/>
              <a:buFont typeface="Arial"/>
              <a:buChar char="•"/>
            </a:pPr>
            <a:r>
              <a:rPr b="0" i="0" lang="en-US" sz="2800" u="none" cap="none" strike="noStrike">
                <a:solidFill>
                  <a:schemeClr val="dk1"/>
                </a:solidFill>
                <a:latin typeface="Arial"/>
                <a:ea typeface="Arial"/>
                <a:cs typeface="Arial"/>
                <a:sym typeface="Arial"/>
              </a:rPr>
              <a:t>Regression Analysis: NDIS Trend Analysis</a:t>
            </a:r>
            <a:endParaRPr b="0" i="0" sz="2800" u="none" cap="none" strike="noStrike">
              <a:solidFill>
                <a:srgbClr val="000000"/>
              </a:solidFill>
              <a:latin typeface="Arial"/>
              <a:ea typeface="Arial"/>
              <a:cs typeface="Arial"/>
              <a:sym typeface="Arial"/>
            </a:endParaRPr>
          </a:p>
        </p:txBody>
      </p:sp>
      <p:sp>
        <p:nvSpPr>
          <p:cNvPr id="102" name="Google Shape;102;p2"/>
          <p:cNvSpPr txBox="1"/>
          <p:nvPr/>
        </p:nvSpPr>
        <p:spPr>
          <a:xfrm>
            <a:off x="9814283" y="6747516"/>
            <a:ext cx="6024900" cy="431100"/>
          </a:xfrm>
          <a:prstGeom prst="rect">
            <a:avLst/>
          </a:prstGeom>
          <a:noFill/>
          <a:ln>
            <a:noFill/>
          </a:ln>
        </p:spPr>
        <p:txBody>
          <a:bodyPr anchorCtr="0" anchor="t" bIns="0" lIns="0" spcFirstLastPara="1" rIns="0" wrap="square" tIns="0">
            <a:spAutoFit/>
          </a:bodyPr>
          <a:lstStyle/>
          <a:p>
            <a:pPr indent="-302261" lvl="1" marL="604523" marR="0" rtl="0" algn="l">
              <a:lnSpc>
                <a:spcPct val="14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Evaluation of Results</a:t>
            </a:r>
            <a:endParaRPr b="0" i="0" sz="1400" u="none" cap="none" strike="noStrike">
              <a:solidFill>
                <a:srgbClr val="000000"/>
              </a:solidFill>
              <a:latin typeface="Arial"/>
              <a:ea typeface="Arial"/>
              <a:cs typeface="Arial"/>
              <a:sym typeface="Arial"/>
            </a:endParaRPr>
          </a:p>
        </p:txBody>
      </p:sp>
      <p:sp>
        <p:nvSpPr>
          <p:cNvPr id="103" name="Google Shape;103;p2"/>
          <p:cNvSpPr txBox="1"/>
          <p:nvPr/>
        </p:nvSpPr>
        <p:spPr>
          <a:xfrm>
            <a:off x="1028700" y="8600363"/>
            <a:ext cx="8785500" cy="431100"/>
          </a:xfrm>
          <a:prstGeom prst="rect">
            <a:avLst/>
          </a:prstGeom>
          <a:noFill/>
          <a:ln>
            <a:noFill/>
          </a:ln>
        </p:spPr>
        <p:txBody>
          <a:bodyPr anchorCtr="0" anchor="t" bIns="0" lIns="0" spcFirstLastPara="1" rIns="0" wrap="square" tIns="0">
            <a:spAutoFit/>
          </a:bodyPr>
          <a:lstStyle/>
          <a:p>
            <a:pPr indent="-302260" lvl="1" marL="604522" marR="0" rtl="0" algn="l">
              <a:lnSpc>
                <a:spcPct val="14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Descriptive Analysis: NDIS Participant SA vs VIS</a:t>
            </a:r>
            <a:endParaRPr b="0" i="0" sz="1400" u="none" cap="none" strike="noStrike">
              <a:solidFill>
                <a:srgbClr val="000000"/>
              </a:solidFill>
              <a:latin typeface="Arial"/>
              <a:ea typeface="Arial"/>
              <a:cs typeface="Arial"/>
              <a:sym typeface="Arial"/>
            </a:endParaRPr>
          </a:p>
        </p:txBody>
      </p:sp>
      <p:sp>
        <p:nvSpPr>
          <p:cNvPr id="104" name="Google Shape;104;p2"/>
          <p:cNvSpPr txBox="1"/>
          <p:nvPr/>
        </p:nvSpPr>
        <p:spPr>
          <a:xfrm>
            <a:off x="9814283" y="8005756"/>
            <a:ext cx="6024900" cy="431100"/>
          </a:xfrm>
          <a:prstGeom prst="rect">
            <a:avLst/>
          </a:prstGeom>
          <a:noFill/>
          <a:ln>
            <a:noFill/>
          </a:ln>
        </p:spPr>
        <p:txBody>
          <a:bodyPr anchorCtr="0" anchor="t" bIns="0" lIns="0" spcFirstLastPara="1" rIns="0" wrap="square" tIns="0">
            <a:spAutoFit/>
          </a:bodyPr>
          <a:lstStyle/>
          <a:p>
            <a:pPr indent="-302261" lvl="1" marL="604523" marR="0" rtl="0" algn="l">
              <a:lnSpc>
                <a:spcPct val="14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Reflection</a:t>
            </a:r>
            <a:endParaRPr b="0" i="0" sz="1400" u="none" cap="none" strike="noStrike">
              <a:solidFill>
                <a:srgbClr val="000000"/>
              </a:solidFill>
              <a:latin typeface="Arial"/>
              <a:ea typeface="Arial"/>
              <a:cs typeface="Arial"/>
              <a:sym typeface="Arial"/>
            </a:endParaRPr>
          </a:p>
        </p:txBody>
      </p:sp>
      <p:sp>
        <p:nvSpPr>
          <p:cNvPr id="105" name="Google Shape;105;p2"/>
          <p:cNvSpPr txBox="1"/>
          <p:nvPr/>
        </p:nvSpPr>
        <p:spPr>
          <a:xfrm>
            <a:off x="11019186" y="9879744"/>
            <a:ext cx="96069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Photo source: </a:t>
            </a:r>
            <a:r>
              <a:rPr b="0" i="0" lang="en-US" sz="1000" u="sng" cap="none" strike="noStrike">
                <a:solidFill>
                  <a:schemeClr val="hlink"/>
                </a:solidFill>
                <a:latin typeface="Arial"/>
                <a:ea typeface="Arial"/>
                <a:cs typeface="Arial"/>
                <a:sym typeface="Arial"/>
                <a:hlinkClick r:id="rId4"/>
              </a:rPr>
              <a:t>https://www.sasi.org.au/navigating-the-ndis-maze-expert-tips-for-maximising-specialist-support-coordination/</a:t>
            </a:r>
            <a:r>
              <a:rPr b="0" i="0" lang="en-US" sz="10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C987C"/>
        </a:solidFill>
      </p:bgPr>
    </p:bg>
    <p:spTree>
      <p:nvGrpSpPr>
        <p:cNvPr id="109" name="Shape 109"/>
        <p:cNvGrpSpPr/>
        <p:nvPr/>
      </p:nvGrpSpPr>
      <p:grpSpPr>
        <a:xfrm>
          <a:off x="0" y="0"/>
          <a:ext cx="0" cy="0"/>
          <a:chOff x="0" y="0"/>
          <a:chExt cx="0" cy="0"/>
        </a:xfrm>
      </p:grpSpPr>
      <p:grpSp>
        <p:nvGrpSpPr>
          <p:cNvPr id="110" name="Google Shape;110;g3b76fa3d5dd_0_4"/>
          <p:cNvGrpSpPr/>
          <p:nvPr/>
        </p:nvGrpSpPr>
        <p:grpSpPr>
          <a:xfrm>
            <a:off x="0" y="-289324"/>
            <a:ext cx="18288118" cy="3494834"/>
            <a:chOff x="0" y="-76200"/>
            <a:chExt cx="4816592" cy="920444"/>
          </a:xfrm>
        </p:grpSpPr>
        <p:sp>
          <p:nvSpPr>
            <p:cNvPr id="111" name="Google Shape;111;g3b76fa3d5dd_0_4"/>
            <p:cNvSpPr/>
            <p:nvPr/>
          </p:nvSpPr>
          <p:spPr>
            <a:xfrm>
              <a:off x="0" y="0"/>
              <a:ext cx="4816592" cy="844244"/>
            </a:xfrm>
            <a:custGeom>
              <a:rect b="b" l="l" r="r" t="t"/>
              <a:pathLst>
                <a:path extrusionOk="0" h="844244" w="4816592">
                  <a:moveTo>
                    <a:pt x="0" y="0"/>
                  </a:moveTo>
                  <a:lnTo>
                    <a:pt x="4816592" y="0"/>
                  </a:lnTo>
                  <a:lnTo>
                    <a:pt x="4816592" y="844244"/>
                  </a:lnTo>
                  <a:lnTo>
                    <a:pt x="0" y="844244"/>
                  </a:lnTo>
                  <a:close/>
                </a:path>
              </a:pathLst>
            </a:custGeom>
            <a:solidFill>
              <a:srgbClr val="FFFFFF"/>
            </a:solidFill>
            <a:ln>
              <a:noFill/>
            </a:ln>
          </p:spPr>
        </p:sp>
        <p:sp>
          <p:nvSpPr>
            <p:cNvPr id="112" name="Google Shape;112;g3b76fa3d5dd_0_4"/>
            <p:cNvSpPr txBox="1"/>
            <p:nvPr/>
          </p:nvSpPr>
          <p:spPr>
            <a:xfrm>
              <a:off x="0" y="-76200"/>
              <a:ext cx="4816500" cy="9204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3" name="Google Shape;113;g3b76fa3d5dd_0_4"/>
          <p:cNvSpPr txBox="1"/>
          <p:nvPr/>
        </p:nvSpPr>
        <p:spPr>
          <a:xfrm>
            <a:off x="1035754" y="570340"/>
            <a:ext cx="16216500" cy="984900"/>
          </a:xfrm>
          <a:prstGeom prst="rect">
            <a:avLst/>
          </a:prstGeom>
          <a:noFill/>
          <a:ln>
            <a:noFill/>
          </a:ln>
        </p:spPr>
        <p:txBody>
          <a:bodyPr anchorCtr="0" anchor="t" bIns="0" lIns="0" spcFirstLastPara="1" rIns="0" wrap="square" tIns="0">
            <a:spAutoFit/>
          </a:bodyPr>
          <a:lstStyle/>
          <a:p>
            <a:pPr indent="0" lvl="0" marL="0" marR="0" rtl="0" algn="ctr">
              <a:lnSpc>
                <a:spcPct val="120003"/>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What is NDIS?</a:t>
            </a:r>
            <a:endParaRPr b="0" i="0" sz="1400" u="none" cap="none" strike="noStrike">
              <a:solidFill>
                <a:srgbClr val="000000"/>
              </a:solidFill>
              <a:latin typeface="Arial"/>
              <a:ea typeface="Arial"/>
              <a:cs typeface="Arial"/>
              <a:sym typeface="Arial"/>
            </a:endParaRPr>
          </a:p>
        </p:txBody>
      </p:sp>
      <p:sp>
        <p:nvSpPr>
          <p:cNvPr id="114" name="Google Shape;114;g3b76fa3d5dd_0_4"/>
          <p:cNvSpPr txBox="1"/>
          <p:nvPr/>
        </p:nvSpPr>
        <p:spPr>
          <a:xfrm>
            <a:off x="1035754" y="9768680"/>
            <a:ext cx="5882100" cy="246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600"/>
              <a:buFont typeface="Arial"/>
              <a:buNone/>
            </a:pPr>
            <a:r>
              <a:rPr b="0" i="0" lang="en-US" sz="1600" u="none" cap="none" strike="noStrike">
                <a:solidFill>
                  <a:srgbClr val="FFFFFF"/>
                </a:solidFill>
                <a:latin typeface="Arial"/>
                <a:ea typeface="Arial"/>
                <a:cs typeface="Arial"/>
                <a:sym typeface="Arial"/>
              </a:rPr>
              <a:t>https://www.ndis.gov.au/understanding/what-ndis</a:t>
            </a:r>
            <a:endParaRPr b="0" i="0" sz="1400" u="none" cap="none" strike="noStrike">
              <a:solidFill>
                <a:srgbClr val="000000"/>
              </a:solidFill>
              <a:latin typeface="Arial"/>
              <a:ea typeface="Arial"/>
              <a:cs typeface="Arial"/>
              <a:sym typeface="Arial"/>
            </a:endParaRPr>
          </a:p>
        </p:txBody>
      </p:sp>
      <p:sp>
        <p:nvSpPr>
          <p:cNvPr id="115" name="Google Shape;115;g3b76fa3d5dd_0_4"/>
          <p:cNvSpPr txBox="1"/>
          <p:nvPr/>
        </p:nvSpPr>
        <p:spPr>
          <a:xfrm>
            <a:off x="955350" y="1555250"/>
            <a:ext cx="16633200" cy="1011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2500"/>
              <a:buFont typeface="Arial"/>
              <a:buNone/>
            </a:pPr>
            <a:r>
              <a:rPr b="0" i="0" lang="en-US" sz="2500" u="none" cap="none" strike="noStrike">
                <a:solidFill>
                  <a:schemeClr val="dk1"/>
                </a:solidFill>
                <a:latin typeface="Arial"/>
                <a:ea typeface="Arial"/>
                <a:cs typeface="Arial"/>
                <a:sym typeface="Arial"/>
              </a:rPr>
              <a:t>The </a:t>
            </a:r>
            <a:r>
              <a:rPr b="0" i="0" lang="en-US" sz="2500" u="none" cap="none" strike="noStrike">
                <a:solidFill>
                  <a:srgbClr val="0A0A0A"/>
                </a:solidFill>
                <a:highlight>
                  <a:srgbClr val="FFFFFF"/>
                </a:highlight>
                <a:latin typeface="Arial"/>
                <a:ea typeface="Arial"/>
                <a:cs typeface="Arial"/>
                <a:sym typeface="Arial"/>
              </a:rPr>
              <a:t>National Disability Insurance Scheme (NDIS)</a:t>
            </a:r>
            <a:r>
              <a:rPr b="0" i="0" lang="en-US" sz="2500" u="none" cap="none" strike="noStrike">
                <a:solidFill>
                  <a:schemeClr val="dk1"/>
                </a:solidFill>
                <a:latin typeface="Arial"/>
                <a:ea typeface="Arial"/>
                <a:cs typeface="Arial"/>
                <a:sym typeface="Arial"/>
              </a:rPr>
              <a:t> is a major national insurance scheme designed to support people with disability to live independently and participate socially and economically (NDIS, n.d.)</a:t>
            </a:r>
            <a:endParaRPr b="0" i="0" sz="2500" u="none" cap="none" strike="noStrike">
              <a:solidFill>
                <a:srgbClr val="000000"/>
              </a:solidFill>
              <a:latin typeface="Arial"/>
              <a:ea typeface="Arial"/>
              <a:cs typeface="Arial"/>
              <a:sym typeface="Arial"/>
            </a:endParaRPr>
          </a:p>
        </p:txBody>
      </p:sp>
      <p:sp>
        <p:nvSpPr>
          <p:cNvPr id="116" name="Google Shape;116;g3b76fa3d5dd_0_4"/>
          <p:cNvSpPr txBox="1"/>
          <p:nvPr/>
        </p:nvSpPr>
        <p:spPr>
          <a:xfrm>
            <a:off x="1290504" y="3605815"/>
            <a:ext cx="16216500" cy="984900"/>
          </a:xfrm>
          <a:prstGeom prst="rect">
            <a:avLst/>
          </a:prstGeom>
          <a:noFill/>
          <a:ln>
            <a:noFill/>
          </a:ln>
        </p:spPr>
        <p:txBody>
          <a:bodyPr anchorCtr="0" anchor="t" bIns="0" lIns="0" spcFirstLastPara="1" rIns="0" wrap="square" tIns="0">
            <a:spAutoFit/>
          </a:bodyPr>
          <a:lstStyle/>
          <a:p>
            <a:pPr indent="0" lvl="0" marL="0" marR="0" rtl="0" algn="ctr">
              <a:lnSpc>
                <a:spcPct val="120003"/>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Why NDIS is important?</a:t>
            </a:r>
            <a:endParaRPr b="0" i="0" sz="1400" u="none" cap="none" strike="noStrike">
              <a:solidFill>
                <a:srgbClr val="000000"/>
              </a:solidFill>
              <a:latin typeface="Arial"/>
              <a:ea typeface="Arial"/>
              <a:cs typeface="Arial"/>
              <a:sym typeface="Arial"/>
            </a:endParaRPr>
          </a:p>
        </p:txBody>
      </p:sp>
      <p:sp>
        <p:nvSpPr>
          <p:cNvPr id="117" name="Google Shape;117;g3b76fa3d5dd_0_4"/>
          <p:cNvSpPr txBox="1"/>
          <p:nvPr/>
        </p:nvSpPr>
        <p:spPr>
          <a:xfrm>
            <a:off x="955350" y="4641904"/>
            <a:ext cx="16216500" cy="49254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Participant control and independence:</a:t>
            </a:r>
            <a:r>
              <a:rPr b="0" i="0" lang="en-US" sz="2200" u="none" cap="none" strike="noStrike">
                <a:solidFill>
                  <a:schemeClr val="dk1"/>
                </a:solidFill>
                <a:latin typeface="Arial"/>
                <a:ea typeface="Arial"/>
                <a:cs typeface="Arial"/>
                <a:sym typeface="Arial"/>
              </a:rPr>
              <a:t> Empowers people with disability to choose their supports, providers, and timing, promoting self-determination.</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0" marL="457200" marR="0" rtl="0" algn="just">
              <a:lnSpc>
                <a:spcPct val="10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Individualised funding:</a:t>
            </a:r>
            <a:r>
              <a:rPr b="0" i="0" lang="en-US" sz="2200" u="none" cap="none" strike="noStrike">
                <a:solidFill>
                  <a:schemeClr val="dk1"/>
                </a:solidFill>
                <a:latin typeface="Arial"/>
                <a:ea typeface="Arial"/>
                <a:cs typeface="Arial"/>
                <a:sym typeface="Arial"/>
              </a:rPr>
              <a:t> Provides tailored plans with “reasonable and necessary” supports aligned to personal goals such as education, employment, and daily living.</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0" marL="457200" marR="0" rtl="0" algn="just">
              <a:lnSpc>
                <a:spcPct val="10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Social and economic inclusion:</a:t>
            </a:r>
            <a:r>
              <a:rPr b="0" i="0" lang="en-US" sz="2200" u="none" cap="none" strike="noStrike">
                <a:solidFill>
                  <a:schemeClr val="dk1"/>
                </a:solidFill>
                <a:latin typeface="Arial"/>
                <a:ea typeface="Arial"/>
                <a:cs typeface="Arial"/>
                <a:sym typeface="Arial"/>
              </a:rPr>
              <a:t> Enables greater participation in community life and the workforce through funded supports and access to mainstream services.</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0" marL="457200" marR="0" rtl="0" algn="just">
              <a:lnSpc>
                <a:spcPct val="10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Family and carer support:</a:t>
            </a:r>
            <a:r>
              <a:rPr b="0" i="0" lang="en-US" sz="2200" u="none" cap="none" strike="noStrike">
                <a:solidFill>
                  <a:schemeClr val="dk1"/>
                </a:solidFill>
                <a:latin typeface="Arial"/>
                <a:ea typeface="Arial"/>
                <a:cs typeface="Arial"/>
                <a:sym typeface="Arial"/>
              </a:rPr>
              <a:t> Assists families and carers through respite, counselling, and capacity-building supports.</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0" marL="457200" marR="0" rtl="0" algn="just">
              <a:lnSpc>
                <a:spcPct val="10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National system reform:</a:t>
            </a:r>
            <a:r>
              <a:rPr b="0" i="0" lang="en-US" sz="2200" u="none" cap="none" strike="noStrike">
                <a:solidFill>
                  <a:schemeClr val="dk1"/>
                </a:solidFill>
                <a:latin typeface="Arial"/>
                <a:ea typeface="Arial"/>
                <a:cs typeface="Arial"/>
                <a:sym typeface="Arial"/>
              </a:rPr>
              <a:t> Replaced fragmented state-based services with a consistent, nationwide framework.</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0" marL="457200" marR="0" rtl="0" algn="just">
              <a:lnSpc>
                <a:spcPct val="10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Economic benefit:</a:t>
            </a:r>
            <a:r>
              <a:rPr b="0" i="0" lang="en-US" sz="2200" u="none" cap="none" strike="noStrike">
                <a:solidFill>
                  <a:schemeClr val="dk1"/>
                </a:solidFill>
                <a:latin typeface="Arial"/>
                <a:ea typeface="Arial"/>
                <a:cs typeface="Arial"/>
                <a:sym typeface="Arial"/>
              </a:rPr>
              <a:t> Increases workforce participation and productivity by unlocking the potential of people with disability.</a:t>
            </a:r>
            <a:endParaRPr b="0" i="0" sz="2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p:nvPr/>
        </p:nvSpPr>
        <p:spPr>
          <a:xfrm>
            <a:off x="0" y="7918669"/>
            <a:ext cx="18288000" cy="2368331"/>
          </a:xfrm>
          <a:prstGeom prst="rect">
            <a:avLst/>
          </a:prstGeom>
          <a:solidFill>
            <a:srgbClr val="7C98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group of colleagues looking at a laptop in an office" id="123" name="Google Shape;123;p3"/>
          <p:cNvPicPr preferRelativeResize="0"/>
          <p:nvPr/>
        </p:nvPicPr>
        <p:blipFill rotWithShape="1">
          <a:blip r:embed="rId3">
            <a:alphaModFix/>
          </a:blip>
          <a:srcRect b="0" l="17190" r="30056" t="0"/>
          <a:stretch/>
        </p:blipFill>
        <p:spPr>
          <a:xfrm>
            <a:off x="1028700" y="0"/>
            <a:ext cx="7325924" cy="9258300"/>
          </a:xfrm>
          <a:prstGeom prst="rect">
            <a:avLst/>
          </a:prstGeom>
          <a:noFill/>
          <a:ln>
            <a:noFill/>
          </a:ln>
        </p:spPr>
      </p:pic>
      <p:sp>
        <p:nvSpPr>
          <p:cNvPr id="124" name="Google Shape;124;p3"/>
          <p:cNvSpPr txBox="1"/>
          <p:nvPr/>
        </p:nvSpPr>
        <p:spPr>
          <a:xfrm>
            <a:off x="8916055" y="479058"/>
            <a:ext cx="8174100" cy="985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400"/>
              <a:buFont typeface="Arial"/>
              <a:buNone/>
            </a:pPr>
            <a:r>
              <a:rPr b="1" i="0" lang="en-US" sz="6400" u="none" cap="none" strike="noStrike">
                <a:solidFill>
                  <a:srgbClr val="000000"/>
                </a:solidFill>
                <a:latin typeface="Arial"/>
                <a:ea typeface="Arial"/>
                <a:cs typeface="Arial"/>
                <a:sym typeface="Arial"/>
              </a:rPr>
              <a:t>Business Problem</a:t>
            </a:r>
            <a:endParaRPr b="0" i="0" sz="6400" u="none" cap="none" strike="noStrike">
              <a:solidFill>
                <a:srgbClr val="000000"/>
              </a:solidFill>
              <a:latin typeface="Arial"/>
              <a:ea typeface="Arial"/>
              <a:cs typeface="Arial"/>
              <a:sym typeface="Arial"/>
            </a:endParaRPr>
          </a:p>
        </p:txBody>
      </p:sp>
      <p:sp>
        <p:nvSpPr>
          <p:cNvPr id="125" name="Google Shape;125;p3"/>
          <p:cNvSpPr txBox="1"/>
          <p:nvPr/>
        </p:nvSpPr>
        <p:spPr>
          <a:xfrm>
            <a:off x="8916056" y="1464258"/>
            <a:ext cx="8878500" cy="16254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400"/>
              </a:spcAft>
              <a:buClr>
                <a:schemeClr val="dk1"/>
              </a:buClr>
              <a:buSzPts val="1100"/>
              <a:buFont typeface="Arial"/>
              <a:buNone/>
            </a:pPr>
            <a:r>
              <a:rPr b="1" i="0" lang="en-US" sz="3200" u="none" cap="none" strike="noStrike">
                <a:solidFill>
                  <a:schemeClr val="dk1"/>
                </a:solidFill>
                <a:latin typeface="Arial"/>
                <a:ea typeface="Arial"/>
                <a:cs typeface="Arial"/>
                <a:sym typeface="Arial"/>
              </a:rPr>
              <a:t>Predict NDIS funding growth in regional South Australia and compare it with regional Victoria.</a:t>
            </a:r>
            <a:endParaRPr b="1" i="0" sz="3200" u="none" cap="none" strike="noStrike">
              <a:solidFill>
                <a:srgbClr val="000000"/>
              </a:solidFill>
              <a:latin typeface="Arial"/>
              <a:ea typeface="Arial"/>
              <a:cs typeface="Arial"/>
              <a:sym typeface="Arial"/>
            </a:endParaRPr>
          </a:p>
        </p:txBody>
      </p:sp>
      <p:pic>
        <p:nvPicPr>
          <p:cNvPr id="126" name="Google Shape;126;p3" title="Screenshot 2026-01-09 at 2.03.18 PM.png"/>
          <p:cNvPicPr preferRelativeResize="0"/>
          <p:nvPr/>
        </p:nvPicPr>
        <p:blipFill rotWithShape="1">
          <a:blip r:embed="rId4">
            <a:alphaModFix/>
          </a:blip>
          <a:srcRect b="0" l="4030" r="0" t="0"/>
          <a:stretch/>
        </p:blipFill>
        <p:spPr>
          <a:xfrm>
            <a:off x="8354625" y="3674650"/>
            <a:ext cx="9024573" cy="1996325"/>
          </a:xfrm>
          <a:prstGeom prst="rect">
            <a:avLst/>
          </a:prstGeom>
          <a:noFill/>
          <a:ln>
            <a:noFill/>
          </a:ln>
        </p:spPr>
      </p:pic>
      <p:pic>
        <p:nvPicPr>
          <p:cNvPr id="127" name="Google Shape;127;p3" title="Screenshot 2026-01-09 at 2.04.57 PM.png"/>
          <p:cNvPicPr preferRelativeResize="0"/>
          <p:nvPr/>
        </p:nvPicPr>
        <p:blipFill rotWithShape="1">
          <a:blip r:embed="rId5">
            <a:alphaModFix/>
          </a:blip>
          <a:srcRect b="0" l="0" r="0" t="0"/>
          <a:stretch/>
        </p:blipFill>
        <p:spPr>
          <a:xfrm>
            <a:off x="8347576" y="5796250"/>
            <a:ext cx="5283124" cy="4087549"/>
          </a:xfrm>
          <a:prstGeom prst="rect">
            <a:avLst/>
          </a:prstGeom>
          <a:noFill/>
          <a:ln>
            <a:noFill/>
          </a:ln>
        </p:spPr>
      </p:pic>
      <p:pic>
        <p:nvPicPr>
          <p:cNvPr id="128" name="Google Shape;128;p3" title="Screenshot 2026-01-09 at 2.06.26 PM.png"/>
          <p:cNvPicPr preferRelativeResize="0"/>
          <p:nvPr/>
        </p:nvPicPr>
        <p:blipFill rotWithShape="1">
          <a:blip r:embed="rId6">
            <a:alphaModFix/>
          </a:blip>
          <a:srcRect b="0" l="0" r="0" t="0"/>
          <a:stretch/>
        </p:blipFill>
        <p:spPr>
          <a:xfrm>
            <a:off x="13697800" y="5756275"/>
            <a:ext cx="4413548" cy="4087551"/>
          </a:xfrm>
          <a:prstGeom prst="rect">
            <a:avLst/>
          </a:prstGeom>
          <a:noFill/>
          <a:ln>
            <a:noFill/>
          </a:ln>
        </p:spPr>
      </p:pic>
      <p:sp>
        <p:nvSpPr>
          <p:cNvPr id="129" name="Google Shape;129;p3"/>
          <p:cNvSpPr txBox="1"/>
          <p:nvPr/>
        </p:nvSpPr>
        <p:spPr>
          <a:xfrm>
            <a:off x="930550" y="9883800"/>
            <a:ext cx="97455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Source: https://www.ndisreview.gov.au/resources/paper/improving-access-supports-remote-and-first-nations-communities/1-market-challenges</a:t>
            </a:r>
            <a:endParaRPr b="0" i="0" sz="10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4"/>
          <p:cNvGrpSpPr/>
          <p:nvPr/>
        </p:nvGrpSpPr>
        <p:grpSpPr>
          <a:xfrm>
            <a:off x="0" y="-397818"/>
            <a:ext cx="5420237" cy="5202248"/>
            <a:chOff x="0" y="-104775"/>
            <a:chExt cx="1427552" cy="1370139"/>
          </a:xfrm>
        </p:grpSpPr>
        <p:sp>
          <p:nvSpPr>
            <p:cNvPr id="135" name="Google Shape;135;p4"/>
            <p:cNvSpPr/>
            <p:nvPr/>
          </p:nvSpPr>
          <p:spPr>
            <a:xfrm>
              <a:off x="0" y="0"/>
              <a:ext cx="1427552" cy="1265364"/>
            </a:xfrm>
            <a:custGeom>
              <a:rect b="b" l="l" r="r" t="t"/>
              <a:pathLst>
                <a:path extrusionOk="0" h="1265364" w="1427552">
                  <a:moveTo>
                    <a:pt x="0" y="0"/>
                  </a:moveTo>
                  <a:lnTo>
                    <a:pt x="1427552" y="0"/>
                  </a:lnTo>
                  <a:lnTo>
                    <a:pt x="1427552" y="1265364"/>
                  </a:lnTo>
                  <a:lnTo>
                    <a:pt x="0" y="1265364"/>
                  </a:lnTo>
                  <a:close/>
                </a:path>
              </a:pathLst>
            </a:custGeom>
            <a:solidFill>
              <a:srgbClr val="7C987C"/>
            </a:solidFill>
            <a:ln>
              <a:noFill/>
            </a:ln>
          </p:spPr>
        </p:sp>
        <p:sp>
          <p:nvSpPr>
            <p:cNvPr id="136" name="Google Shape;136;p4"/>
            <p:cNvSpPr txBox="1"/>
            <p:nvPr/>
          </p:nvSpPr>
          <p:spPr>
            <a:xfrm>
              <a:off x="0" y="-104775"/>
              <a:ext cx="1427552" cy="1370139"/>
            </a:xfrm>
            <a:prstGeom prst="rect">
              <a:avLst/>
            </a:prstGeom>
            <a:noFill/>
            <a:ln>
              <a:noFill/>
            </a:ln>
          </p:spPr>
          <p:txBody>
            <a:bodyPr anchorCtr="0" anchor="b" bIns="50800" lIns="50800" spcFirstLastPara="1" rIns="50800" wrap="square" tIns="50800">
              <a:noAutofit/>
            </a:bodyPr>
            <a:lstStyle/>
            <a:p>
              <a:pPr indent="0" lvl="0" marL="0" marR="0" rtl="0" algn="ctr">
                <a:lnSpc>
                  <a:spcPct val="16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7" name="Google Shape;137;p4"/>
          <p:cNvGrpSpPr/>
          <p:nvPr/>
        </p:nvGrpSpPr>
        <p:grpSpPr>
          <a:xfrm>
            <a:off x="0" y="4406612"/>
            <a:ext cx="5420237" cy="5880388"/>
            <a:chOff x="0" y="-104775"/>
            <a:chExt cx="1427552" cy="1548744"/>
          </a:xfrm>
        </p:grpSpPr>
        <p:sp>
          <p:nvSpPr>
            <p:cNvPr id="138" name="Google Shape;138;p4"/>
            <p:cNvSpPr/>
            <p:nvPr/>
          </p:nvSpPr>
          <p:spPr>
            <a:xfrm>
              <a:off x="0" y="0"/>
              <a:ext cx="1427552" cy="1443969"/>
            </a:xfrm>
            <a:custGeom>
              <a:rect b="b" l="l" r="r" t="t"/>
              <a:pathLst>
                <a:path extrusionOk="0" h="1443969" w="1427552">
                  <a:moveTo>
                    <a:pt x="0" y="0"/>
                  </a:moveTo>
                  <a:lnTo>
                    <a:pt x="1427552" y="0"/>
                  </a:lnTo>
                  <a:lnTo>
                    <a:pt x="1427552" y="1443969"/>
                  </a:lnTo>
                  <a:lnTo>
                    <a:pt x="0" y="1443969"/>
                  </a:lnTo>
                  <a:close/>
                </a:path>
              </a:pathLst>
            </a:custGeom>
            <a:solidFill>
              <a:srgbClr val="365236"/>
            </a:solidFill>
            <a:ln>
              <a:noFill/>
            </a:ln>
          </p:spPr>
        </p:sp>
        <p:sp>
          <p:nvSpPr>
            <p:cNvPr id="139" name="Google Shape;139;p4"/>
            <p:cNvSpPr txBox="1"/>
            <p:nvPr/>
          </p:nvSpPr>
          <p:spPr>
            <a:xfrm>
              <a:off x="0" y="-104775"/>
              <a:ext cx="1427552" cy="1548744"/>
            </a:xfrm>
            <a:prstGeom prst="rect">
              <a:avLst/>
            </a:prstGeom>
            <a:noFill/>
            <a:ln>
              <a:noFill/>
            </a:ln>
          </p:spPr>
          <p:txBody>
            <a:bodyPr anchorCtr="0" anchor="b" bIns="50800" lIns="50800" spcFirstLastPara="1" rIns="50800" wrap="square" tIns="50800">
              <a:noAutofit/>
            </a:bodyPr>
            <a:lstStyle/>
            <a:p>
              <a:pPr indent="0" lvl="0" marL="0" marR="0" rtl="0" algn="ctr">
                <a:lnSpc>
                  <a:spcPct val="16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0" name="Google Shape;140;p4"/>
          <p:cNvGrpSpPr/>
          <p:nvPr/>
        </p:nvGrpSpPr>
        <p:grpSpPr>
          <a:xfrm>
            <a:off x="1028700" y="985838"/>
            <a:ext cx="3765150" cy="2478713"/>
            <a:chOff x="0" y="-57150"/>
            <a:chExt cx="5020200" cy="3304950"/>
          </a:xfrm>
        </p:grpSpPr>
        <p:sp>
          <p:nvSpPr>
            <p:cNvPr id="141" name="Google Shape;141;p4"/>
            <p:cNvSpPr txBox="1"/>
            <p:nvPr/>
          </p:nvSpPr>
          <p:spPr>
            <a:xfrm>
              <a:off x="0" y="-57150"/>
              <a:ext cx="4410900" cy="16251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599"/>
                <a:buFont typeface="Arial"/>
                <a:buNone/>
              </a:pPr>
              <a:r>
                <a:rPr b="1" i="0" lang="en-US" sz="3599" u="none" cap="none" strike="noStrike">
                  <a:solidFill>
                    <a:srgbClr val="FFFFFF"/>
                  </a:solidFill>
                  <a:latin typeface="Arial"/>
                  <a:ea typeface="Arial"/>
                  <a:cs typeface="Arial"/>
                  <a:sym typeface="Arial"/>
                </a:rPr>
                <a:t>Data Sources &amp; Processing</a:t>
              </a:r>
              <a:endParaRPr b="0" i="0" sz="1400" u="none" cap="none" strike="noStrike">
                <a:solidFill>
                  <a:srgbClr val="000000"/>
                </a:solidFill>
                <a:latin typeface="Arial"/>
                <a:ea typeface="Arial"/>
                <a:cs typeface="Arial"/>
                <a:sym typeface="Arial"/>
              </a:endParaRPr>
            </a:p>
          </p:txBody>
        </p:sp>
        <p:sp>
          <p:nvSpPr>
            <p:cNvPr id="142" name="Google Shape;142;p4"/>
            <p:cNvSpPr txBox="1"/>
            <p:nvPr/>
          </p:nvSpPr>
          <p:spPr>
            <a:xfrm>
              <a:off x="0" y="1731000"/>
              <a:ext cx="5020200" cy="1516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100"/>
                <a:buFont typeface="Arial"/>
                <a:buNone/>
              </a:pPr>
              <a:r>
                <a:rPr b="0" i="0" lang="en-US" sz="2300" u="none" cap="none" strike="noStrike">
                  <a:solidFill>
                    <a:srgbClr val="F9FAFB"/>
                  </a:solidFill>
                  <a:latin typeface="Calibri"/>
                  <a:ea typeface="Calibri"/>
                  <a:cs typeface="Calibri"/>
                  <a:sym typeface="Calibri"/>
                </a:rPr>
                <a:t>Raw dataset: 65,535 rows | Modelling subset: 10,179 rows</a:t>
              </a:r>
              <a:endParaRPr b="0" i="0" sz="2300" u="none" cap="none" strike="noStrike">
                <a:solidFill>
                  <a:srgbClr val="F9FAFB"/>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2100"/>
                <a:buFont typeface="Arial"/>
                <a:buNone/>
              </a:pPr>
              <a:r>
                <a:t/>
              </a:r>
              <a:endParaRPr b="0" i="0" sz="2100" u="none" cap="none" strike="noStrike">
                <a:solidFill>
                  <a:srgbClr val="FFFFFF"/>
                </a:solidFill>
                <a:latin typeface="Arial"/>
                <a:ea typeface="Arial"/>
                <a:cs typeface="Arial"/>
                <a:sym typeface="Arial"/>
              </a:endParaRPr>
            </a:p>
          </p:txBody>
        </p:sp>
      </p:grpSp>
      <p:sp>
        <p:nvSpPr>
          <p:cNvPr id="143" name="Google Shape;143;p4"/>
          <p:cNvSpPr txBox="1"/>
          <p:nvPr/>
        </p:nvSpPr>
        <p:spPr>
          <a:xfrm>
            <a:off x="870050" y="5459100"/>
            <a:ext cx="4469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Input Data</a:t>
            </a:r>
            <a:endParaRPr b="1" i="0" sz="3200" u="none" cap="none" strike="noStrike">
              <a:solidFill>
                <a:schemeClr val="lt1"/>
              </a:solidFill>
              <a:latin typeface="Arial"/>
              <a:ea typeface="Arial"/>
              <a:cs typeface="Arial"/>
              <a:sym typeface="Arial"/>
            </a:endParaRPr>
          </a:p>
        </p:txBody>
      </p:sp>
      <p:sp>
        <p:nvSpPr>
          <p:cNvPr id="144" name="Google Shape;144;p4"/>
          <p:cNvSpPr txBox="1"/>
          <p:nvPr/>
        </p:nvSpPr>
        <p:spPr>
          <a:xfrm>
            <a:off x="346300" y="6136200"/>
            <a:ext cx="4652100" cy="33885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100"/>
              <a:buFont typeface="Arial"/>
              <a:buNone/>
            </a:pPr>
            <a:r>
              <a:rPr b="0" i="0" lang="en-US" sz="2300" u="none" cap="none" strike="noStrike">
                <a:solidFill>
                  <a:schemeClr val="lt1"/>
                </a:solidFill>
                <a:latin typeface="Calibri"/>
                <a:ea typeface="Calibri"/>
                <a:cs typeface="Calibri"/>
                <a:sym typeface="Calibri"/>
              </a:rPr>
              <a:t>•NDIS Participant Numbers &amp; Plan Budgets (Sep 2025): State, service district, disability group, support class, average annualised committed support budget, active participants.</a:t>
            </a:r>
            <a:endParaRPr b="0" i="0" sz="2300" u="none" cap="none" strike="noStrike">
              <a:solidFill>
                <a:schemeClr val="lt1"/>
              </a:solidFill>
              <a:latin typeface="Calibri"/>
              <a:ea typeface="Calibri"/>
              <a:cs typeface="Calibri"/>
              <a:sym typeface="Calibri"/>
            </a:endParaRPr>
          </a:p>
          <a:p>
            <a:pPr indent="0" lvl="0" marL="0" marR="0" rtl="0" algn="just">
              <a:lnSpc>
                <a:spcPct val="115000"/>
              </a:lnSpc>
              <a:spcBef>
                <a:spcPts val="0"/>
              </a:spcBef>
              <a:spcAft>
                <a:spcPts val="0"/>
              </a:spcAft>
              <a:buClr>
                <a:schemeClr val="dk1"/>
              </a:buClr>
              <a:buSzPts val="1100"/>
              <a:buFont typeface="Arial"/>
              <a:buNone/>
            </a:pPr>
            <a:r>
              <a:rPr b="0" i="0" lang="en-US" sz="2300" u="none" cap="none" strike="noStrike">
                <a:solidFill>
                  <a:schemeClr val="lt1"/>
                </a:solidFill>
                <a:latin typeface="Calibri"/>
                <a:ea typeface="Calibri"/>
                <a:cs typeface="Calibri"/>
                <a:sym typeface="Calibri"/>
              </a:rPr>
              <a:t>•Focus states: South Australia (SA) and Victoria (VIC).</a:t>
            </a:r>
            <a:endParaRPr b="0" i="0" sz="23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300"/>
              <a:buFont typeface="Arial"/>
              <a:buNone/>
            </a:pPr>
            <a:r>
              <a:t/>
            </a:r>
            <a:endParaRPr b="0" i="0" sz="2300" u="none" cap="none" strike="noStrike">
              <a:solidFill>
                <a:schemeClr val="lt1"/>
              </a:solidFill>
              <a:latin typeface="Calibri"/>
              <a:ea typeface="Calibri"/>
              <a:cs typeface="Calibri"/>
              <a:sym typeface="Calibri"/>
            </a:endParaRPr>
          </a:p>
        </p:txBody>
      </p:sp>
      <p:sp>
        <p:nvSpPr>
          <p:cNvPr id="145" name="Google Shape;145;p4"/>
          <p:cNvSpPr/>
          <p:nvPr/>
        </p:nvSpPr>
        <p:spPr>
          <a:xfrm>
            <a:off x="5407950" y="0"/>
            <a:ext cx="12965400" cy="4804500"/>
          </a:xfrm>
          <a:prstGeom prst="rect">
            <a:avLst/>
          </a:prstGeom>
          <a:solidFill>
            <a:srgbClr val="99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6" name="Google Shape;146;p4"/>
          <p:cNvSpPr txBox="1"/>
          <p:nvPr/>
        </p:nvSpPr>
        <p:spPr>
          <a:xfrm>
            <a:off x="5935650" y="985850"/>
            <a:ext cx="4469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Processing</a:t>
            </a:r>
            <a:endParaRPr b="1" i="0" sz="3200" u="none" cap="none" strike="noStrike">
              <a:solidFill>
                <a:schemeClr val="lt1"/>
              </a:solidFill>
              <a:latin typeface="Arial"/>
              <a:ea typeface="Arial"/>
              <a:cs typeface="Arial"/>
              <a:sym typeface="Arial"/>
            </a:endParaRPr>
          </a:p>
        </p:txBody>
      </p:sp>
      <p:sp>
        <p:nvSpPr>
          <p:cNvPr id="147" name="Google Shape;147;p4"/>
          <p:cNvSpPr txBox="1"/>
          <p:nvPr/>
        </p:nvSpPr>
        <p:spPr>
          <a:xfrm>
            <a:off x="5697950" y="1586525"/>
            <a:ext cx="11361900" cy="2574300"/>
          </a:xfrm>
          <a:prstGeom prst="rect">
            <a:avLst/>
          </a:prstGeom>
          <a:noFill/>
          <a:ln>
            <a:noFill/>
          </a:ln>
        </p:spPr>
        <p:txBody>
          <a:bodyPr anchorCtr="0" anchor="t" bIns="91425" lIns="91425" spcFirstLastPara="1" rIns="91425" wrap="square" tIns="91425">
            <a:spAutoFit/>
          </a:bodyPr>
          <a:lstStyle/>
          <a:p>
            <a:pPr indent="-374650" lvl="0" marL="457200" marR="0" rtl="0" algn="l">
              <a:lnSpc>
                <a:spcPct val="115000"/>
              </a:lnSpc>
              <a:spcBef>
                <a:spcPts val="0"/>
              </a:spcBef>
              <a:spcAft>
                <a:spcPts val="0"/>
              </a:spcAft>
              <a:buClr>
                <a:schemeClr val="lt1"/>
              </a:buClr>
              <a:buSzPts val="2300"/>
              <a:buFont typeface="Calibri"/>
              <a:buChar char="●"/>
            </a:pPr>
            <a:r>
              <a:rPr b="0" i="0" lang="en-US" sz="2300" u="none" cap="none" strike="noStrike">
                <a:solidFill>
                  <a:schemeClr val="lt1"/>
                </a:solidFill>
                <a:latin typeface="Calibri"/>
                <a:ea typeface="Calibri"/>
                <a:cs typeface="Calibri"/>
                <a:sym typeface="Calibri"/>
              </a:rPr>
              <a:t>Filtered to AgeBnd='ALL' and SuppClass='ALL' to get whole-of-population within each district.</a:t>
            </a:r>
            <a:endParaRPr b="0" i="0" sz="2300" u="none" cap="none" strike="noStrike">
              <a:solidFill>
                <a:schemeClr val="lt1"/>
              </a:solidFill>
              <a:latin typeface="Calibri"/>
              <a:ea typeface="Calibri"/>
              <a:cs typeface="Calibri"/>
              <a:sym typeface="Calibri"/>
            </a:endParaRPr>
          </a:p>
          <a:p>
            <a:pPr indent="-374650" lvl="0" marL="457200" marR="0" rtl="0" algn="l">
              <a:lnSpc>
                <a:spcPct val="115000"/>
              </a:lnSpc>
              <a:spcBef>
                <a:spcPts val="0"/>
              </a:spcBef>
              <a:spcAft>
                <a:spcPts val="0"/>
              </a:spcAft>
              <a:buClr>
                <a:schemeClr val="lt1"/>
              </a:buClr>
              <a:buSzPts val="2300"/>
              <a:buFont typeface="Calibri"/>
              <a:buChar char="●"/>
            </a:pPr>
            <a:r>
              <a:rPr b="0" i="0" lang="en-US" sz="2300" u="none" cap="none" strike="noStrike">
                <a:solidFill>
                  <a:schemeClr val="lt1"/>
                </a:solidFill>
                <a:latin typeface="Calibri"/>
                <a:ea typeface="Calibri"/>
                <a:cs typeface="Calibri"/>
                <a:sym typeface="Calibri"/>
              </a:rPr>
              <a:t>Converted masked counts like “&lt;11” to (1-11) for aggregation (small-number privacy masking).</a:t>
            </a:r>
            <a:endParaRPr b="0" i="0" sz="2300" u="none" cap="none" strike="noStrike">
              <a:solidFill>
                <a:schemeClr val="lt1"/>
              </a:solidFill>
              <a:latin typeface="Calibri"/>
              <a:ea typeface="Calibri"/>
              <a:cs typeface="Calibri"/>
              <a:sym typeface="Calibri"/>
            </a:endParaRPr>
          </a:p>
          <a:p>
            <a:pPr indent="-374650" lvl="0" marL="457200" marR="0" rtl="0" algn="l">
              <a:lnSpc>
                <a:spcPct val="115000"/>
              </a:lnSpc>
              <a:spcBef>
                <a:spcPts val="0"/>
              </a:spcBef>
              <a:spcAft>
                <a:spcPts val="0"/>
              </a:spcAft>
              <a:buClr>
                <a:schemeClr val="lt1"/>
              </a:buClr>
              <a:buSzPts val="2300"/>
              <a:buFont typeface="Calibri"/>
              <a:buChar char="●"/>
            </a:pPr>
            <a:r>
              <a:rPr b="0" i="0" lang="en-US" sz="2300" u="none" cap="none" strike="noStrike">
                <a:solidFill>
                  <a:schemeClr val="lt1"/>
                </a:solidFill>
                <a:latin typeface="Calibri"/>
                <a:ea typeface="Calibri"/>
                <a:cs typeface="Calibri"/>
                <a:sym typeface="Calibri"/>
              </a:rPr>
              <a:t>Estimated total committed budget by summing (participants × average budget) across disability groups (weighted aggregation).</a:t>
            </a:r>
            <a:endParaRPr b="0" i="0" sz="2300" u="none" cap="none" strike="noStrike">
              <a:solidFill>
                <a:schemeClr val="lt1"/>
              </a:solidFill>
              <a:latin typeface="Calibri"/>
              <a:ea typeface="Calibri"/>
              <a:cs typeface="Calibri"/>
              <a:sym typeface="Calibri"/>
            </a:endParaRPr>
          </a:p>
        </p:txBody>
      </p:sp>
      <p:sp>
        <p:nvSpPr>
          <p:cNvPr id="148" name="Google Shape;148;p4"/>
          <p:cNvSpPr/>
          <p:nvPr/>
        </p:nvSpPr>
        <p:spPr>
          <a:xfrm>
            <a:off x="5407950" y="4804500"/>
            <a:ext cx="6371700" cy="5482500"/>
          </a:xfrm>
          <a:prstGeom prst="rect">
            <a:avLst/>
          </a:prstGeom>
          <a:solidFill>
            <a:srgbClr val="4A86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9" name="Google Shape;149;p4"/>
          <p:cNvSpPr txBox="1"/>
          <p:nvPr/>
        </p:nvSpPr>
        <p:spPr>
          <a:xfrm>
            <a:off x="5595575" y="5175750"/>
            <a:ext cx="5953800" cy="1243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Metro vs Regional definition (operational)</a:t>
            </a:r>
            <a:endParaRPr b="1" i="0" sz="3200" u="none" cap="none" strike="noStrike">
              <a:solidFill>
                <a:schemeClr val="lt1"/>
              </a:solidFill>
              <a:latin typeface="Arial"/>
              <a:ea typeface="Arial"/>
              <a:cs typeface="Arial"/>
              <a:sym typeface="Arial"/>
            </a:endParaRPr>
          </a:p>
        </p:txBody>
      </p:sp>
      <p:sp>
        <p:nvSpPr>
          <p:cNvPr id="150" name="Google Shape;150;p4"/>
          <p:cNvSpPr txBox="1"/>
          <p:nvPr/>
        </p:nvSpPr>
        <p:spPr>
          <a:xfrm>
            <a:off x="5935650" y="6746850"/>
            <a:ext cx="5420400" cy="2574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100"/>
              <a:buFont typeface="Arial"/>
              <a:buNone/>
            </a:pPr>
            <a:r>
              <a:rPr b="0" i="0" lang="en-US" sz="2300" u="none" cap="none" strike="noStrike">
                <a:solidFill>
                  <a:schemeClr val="lt1"/>
                </a:solidFill>
                <a:latin typeface="Calibri"/>
                <a:ea typeface="Calibri"/>
                <a:cs typeface="Calibri"/>
                <a:sym typeface="Calibri"/>
              </a:rPr>
              <a:t>Metro districts were defined using capital-city service districts (e.g., Adelaide regions; Melbourne regions). All other service districts were grouped as Regional for this baseline comparison.</a:t>
            </a:r>
            <a:endParaRPr b="0" i="0" sz="2300" u="none" cap="none" strike="noStrike">
              <a:solidFill>
                <a:schemeClr val="lt1"/>
              </a:solidFill>
              <a:latin typeface="Calibri"/>
              <a:ea typeface="Calibri"/>
              <a:cs typeface="Calibri"/>
              <a:sym typeface="Calibri"/>
            </a:endParaRPr>
          </a:p>
          <a:p>
            <a:pPr indent="0" lvl="0" marL="457200" marR="0" rtl="0" algn="just">
              <a:lnSpc>
                <a:spcPct val="115000"/>
              </a:lnSpc>
              <a:spcBef>
                <a:spcPts val="0"/>
              </a:spcBef>
              <a:spcAft>
                <a:spcPts val="0"/>
              </a:spcAft>
              <a:buClr>
                <a:srgbClr val="000000"/>
              </a:buClr>
              <a:buSzPts val="2300"/>
              <a:buFont typeface="Arial"/>
              <a:buNone/>
            </a:pPr>
            <a:r>
              <a:t/>
            </a:r>
            <a:endParaRPr b="0" i="0" sz="2300" u="none" cap="none" strike="noStrike">
              <a:solidFill>
                <a:schemeClr val="lt1"/>
              </a:solidFill>
              <a:latin typeface="Calibri"/>
              <a:ea typeface="Calibri"/>
              <a:cs typeface="Calibri"/>
              <a:sym typeface="Calibri"/>
            </a:endParaRPr>
          </a:p>
        </p:txBody>
      </p:sp>
      <p:sp>
        <p:nvSpPr>
          <p:cNvPr id="151" name="Google Shape;151;p4"/>
          <p:cNvSpPr/>
          <p:nvPr/>
        </p:nvSpPr>
        <p:spPr>
          <a:xfrm>
            <a:off x="11724675" y="4787450"/>
            <a:ext cx="6648600" cy="5499600"/>
          </a:xfrm>
          <a:prstGeom prst="rect">
            <a:avLst/>
          </a:prstGeom>
          <a:solidFill>
            <a:srgbClr val="A64D7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2" name="Google Shape;152;p4"/>
          <p:cNvSpPr txBox="1"/>
          <p:nvPr/>
        </p:nvSpPr>
        <p:spPr>
          <a:xfrm>
            <a:off x="11917943" y="5175750"/>
            <a:ext cx="61329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What went to the model?	</a:t>
            </a:r>
            <a:endParaRPr b="1" i="0" sz="3200" u="none" cap="none" strike="noStrike">
              <a:solidFill>
                <a:schemeClr val="lt1"/>
              </a:solidFill>
              <a:latin typeface="Arial"/>
              <a:ea typeface="Arial"/>
              <a:cs typeface="Arial"/>
              <a:sym typeface="Arial"/>
            </a:endParaRPr>
          </a:p>
        </p:txBody>
      </p:sp>
      <p:sp>
        <p:nvSpPr>
          <p:cNvPr id="153" name="Google Shape;153;p4"/>
          <p:cNvSpPr txBox="1"/>
          <p:nvPr/>
        </p:nvSpPr>
        <p:spPr>
          <a:xfrm>
            <a:off x="12189199" y="6746850"/>
            <a:ext cx="5615100" cy="216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US" sz="2300" u="none" cap="none" strike="noStrike">
                <a:solidFill>
                  <a:schemeClr val="lt1"/>
                </a:solidFill>
                <a:latin typeface="Calibri"/>
                <a:ea typeface="Calibri"/>
                <a:cs typeface="Calibri"/>
                <a:sym typeface="Calibri"/>
              </a:rPr>
              <a:t>Rows used: 10179  (SA+VIC districts × disability groups x age)</a:t>
            </a:r>
            <a:endParaRPr b="0" i="0" sz="2300" u="none" cap="none" strike="noStrike">
              <a:solidFill>
                <a:schemeClr val="lt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Arial"/>
              <a:buNone/>
            </a:pPr>
            <a:r>
              <a:rPr b="0" i="0" lang="en-US" sz="2300" u="none" cap="none" strike="noStrike">
                <a:solidFill>
                  <a:schemeClr val="lt1"/>
                </a:solidFill>
                <a:latin typeface="Calibri"/>
                <a:ea typeface="Calibri"/>
                <a:cs typeface="Calibri"/>
                <a:sym typeface="Calibri"/>
              </a:rPr>
              <a:t>Key inputs: active participants, average annualised committed support budget</a:t>
            </a:r>
            <a:endParaRPr b="0" i="0" sz="2300" u="none" cap="none" strike="noStrike">
              <a:solidFill>
                <a:schemeClr val="lt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300"/>
              <a:buFont typeface="Arial"/>
              <a:buNone/>
            </a:pPr>
            <a:r>
              <a:rPr b="0" i="0" lang="en-US" sz="2300" u="none" cap="none" strike="noStrike">
                <a:solidFill>
                  <a:schemeClr val="lt1"/>
                </a:solidFill>
                <a:latin typeface="Calibri"/>
                <a:ea typeface="Calibri"/>
                <a:cs typeface="Calibri"/>
                <a:sym typeface="Calibri"/>
              </a:rPr>
              <a:t>Outputs: regional vs metro totals </a:t>
            </a:r>
            <a:endParaRPr b="0" i="0" sz="23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5"/>
          <p:cNvSpPr txBox="1"/>
          <p:nvPr/>
        </p:nvSpPr>
        <p:spPr>
          <a:xfrm>
            <a:off x="1028700" y="923925"/>
            <a:ext cx="12567600" cy="923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i="0" lang="en-US" sz="6000" u="none" cap="none" strike="noStrike">
                <a:solidFill>
                  <a:schemeClr val="dk1"/>
                </a:solidFill>
                <a:latin typeface="Arial"/>
                <a:ea typeface="Arial"/>
                <a:cs typeface="Arial"/>
                <a:sym typeface="Arial"/>
              </a:rPr>
              <a:t>Data analytics methodology (flow)</a:t>
            </a:r>
            <a:endParaRPr b="1" i="0" sz="6000" u="none" cap="none" strike="noStrike">
              <a:solidFill>
                <a:schemeClr val="dk1"/>
              </a:solidFill>
              <a:latin typeface="Arial"/>
              <a:ea typeface="Arial"/>
              <a:cs typeface="Arial"/>
              <a:sym typeface="Arial"/>
            </a:endParaRPr>
          </a:p>
        </p:txBody>
      </p:sp>
      <p:sp>
        <p:nvSpPr>
          <p:cNvPr id="159" name="Google Shape;159;p5"/>
          <p:cNvSpPr txBox="1"/>
          <p:nvPr/>
        </p:nvSpPr>
        <p:spPr>
          <a:xfrm>
            <a:off x="1028700" y="2078791"/>
            <a:ext cx="12567600" cy="992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3000" u="none" cap="none" strike="noStrike">
                <a:solidFill>
                  <a:schemeClr val="dk1"/>
                </a:solidFill>
                <a:latin typeface="Calibri"/>
                <a:ea typeface="Calibri"/>
                <a:cs typeface="Calibri"/>
                <a:sym typeface="Calibri"/>
              </a:rPr>
              <a:t>Descriptive analytics + time series trend analysis</a:t>
            </a:r>
            <a:endParaRPr b="0" i="0" sz="3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160" name="Google Shape;160;p5"/>
          <p:cNvSpPr txBox="1"/>
          <p:nvPr/>
        </p:nvSpPr>
        <p:spPr>
          <a:xfrm>
            <a:off x="17115383" y="9169344"/>
            <a:ext cx="152400" cy="238125"/>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161" name="Google Shape;161;p5"/>
          <p:cNvSpPr/>
          <p:nvPr/>
        </p:nvSpPr>
        <p:spPr>
          <a:xfrm>
            <a:off x="1184361" y="3163899"/>
            <a:ext cx="2538000" cy="1968900"/>
          </a:xfrm>
          <a:prstGeom prst="roundRect">
            <a:avLst>
              <a:gd fmla="val 16667" name="adj"/>
            </a:avLst>
          </a:prstGeom>
          <a:solidFill>
            <a:srgbClr val="7C987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2" name="Google Shape;162;p5"/>
          <p:cNvSpPr/>
          <p:nvPr/>
        </p:nvSpPr>
        <p:spPr>
          <a:xfrm>
            <a:off x="4331503" y="3190686"/>
            <a:ext cx="2538000" cy="1968900"/>
          </a:xfrm>
          <a:prstGeom prst="roundRect">
            <a:avLst>
              <a:gd fmla="val 16667" name="adj"/>
            </a:avLst>
          </a:prstGeom>
          <a:solidFill>
            <a:srgbClr val="7C987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3" name="Google Shape;163;p5"/>
          <p:cNvSpPr/>
          <p:nvPr/>
        </p:nvSpPr>
        <p:spPr>
          <a:xfrm>
            <a:off x="7478623" y="3190703"/>
            <a:ext cx="2538000" cy="1968900"/>
          </a:xfrm>
          <a:prstGeom prst="roundRect">
            <a:avLst>
              <a:gd fmla="val 16667" name="adj"/>
            </a:avLst>
          </a:prstGeom>
          <a:solidFill>
            <a:srgbClr val="7C987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4" name="Google Shape;164;p5"/>
          <p:cNvSpPr/>
          <p:nvPr/>
        </p:nvSpPr>
        <p:spPr>
          <a:xfrm>
            <a:off x="10625667" y="3208292"/>
            <a:ext cx="2538000" cy="1968900"/>
          </a:xfrm>
          <a:prstGeom prst="roundRect">
            <a:avLst>
              <a:gd fmla="val 16667" name="adj"/>
            </a:avLst>
          </a:prstGeom>
          <a:solidFill>
            <a:srgbClr val="7C987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5" name="Google Shape;165;p5"/>
          <p:cNvSpPr/>
          <p:nvPr/>
        </p:nvSpPr>
        <p:spPr>
          <a:xfrm>
            <a:off x="13755867" y="3208309"/>
            <a:ext cx="2538000" cy="1968900"/>
          </a:xfrm>
          <a:prstGeom prst="roundRect">
            <a:avLst>
              <a:gd fmla="val 16667" name="adj"/>
            </a:avLst>
          </a:prstGeom>
          <a:solidFill>
            <a:srgbClr val="7C987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6" name="Google Shape;166;p5"/>
          <p:cNvSpPr/>
          <p:nvPr/>
        </p:nvSpPr>
        <p:spPr>
          <a:xfrm>
            <a:off x="3722361" y="4026829"/>
            <a:ext cx="609300" cy="389100"/>
          </a:xfrm>
          <a:prstGeom prst="rightArrow">
            <a:avLst>
              <a:gd fmla="val 50000" name="adj1"/>
              <a:gd fmla="val 50000" name="adj2"/>
            </a:avLst>
          </a:prstGeom>
          <a:solidFill>
            <a:srgbClr val="274E1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7" name="Google Shape;167;p5"/>
          <p:cNvSpPr/>
          <p:nvPr/>
        </p:nvSpPr>
        <p:spPr>
          <a:xfrm>
            <a:off x="6869374" y="4026829"/>
            <a:ext cx="609300" cy="389100"/>
          </a:xfrm>
          <a:prstGeom prst="rightArrow">
            <a:avLst>
              <a:gd fmla="val 50000" name="adj1"/>
              <a:gd fmla="val 50000" name="adj2"/>
            </a:avLst>
          </a:prstGeom>
          <a:solidFill>
            <a:srgbClr val="274E1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8" name="Google Shape;168;p5"/>
          <p:cNvSpPr/>
          <p:nvPr/>
        </p:nvSpPr>
        <p:spPr>
          <a:xfrm>
            <a:off x="10016411" y="3998204"/>
            <a:ext cx="609300" cy="389100"/>
          </a:xfrm>
          <a:prstGeom prst="rightArrow">
            <a:avLst>
              <a:gd fmla="val 50000" name="adj1"/>
              <a:gd fmla="val 50000" name="adj2"/>
            </a:avLst>
          </a:prstGeom>
          <a:solidFill>
            <a:srgbClr val="274E1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9" name="Google Shape;169;p5"/>
          <p:cNvSpPr/>
          <p:nvPr/>
        </p:nvSpPr>
        <p:spPr>
          <a:xfrm>
            <a:off x="13163436" y="3998204"/>
            <a:ext cx="609300" cy="389100"/>
          </a:xfrm>
          <a:prstGeom prst="rightArrow">
            <a:avLst>
              <a:gd fmla="val 50000" name="adj1"/>
              <a:gd fmla="val 50000" name="adj2"/>
            </a:avLst>
          </a:prstGeom>
          <a:solidFill>
            <a:srgbClr val="274E1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0" name="Google Shape;170;p5"/>
          <p:cNvSpPr txBox="1"/>
          <p:nvPr/>
        </p:nvSpPr>
        <p:spPr>
          <a:xfrm>
            <a:off x="1302801" y="3231607"/>
            <a:ext cx="2301000" cy="5232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dk1"/>
              </a:buClr>
              <a:buSzPts val="2200"/>
              <a:buFont typeface="Calibri"/>
              <a:buAutoNum type="arabicPeriod"/>
            </a:pPr>
            <a:r>
              <a:rPr b="1" i="0" lang="en-US" sz="2200" u="none" cap="none" strike="noStrike">
                <a:solidFill>
                  <a:schemeClr val="dk1"/>
                </a:solidFill>
                <a:latin typeface="Calibri"/>
                <a:ea typeface="Calibri"/>
                <a:cs typeface="Calibri"/>
                <a:sym typeface="Calibri"/>
              </a:rPr>
              <a:t>Acquire Data</a:t>
            </a:r>
            <a:endParaRPr b="1" i="0" sz="2200" u="none" cap="none" strike="noStrike">
              <a:solidFill>
                <a:schemeClr val="dk1"/>
              </a:solidFill>
              <a:latin typeface="Calibri"/>
              <a:ea typeface="Calibri"/>
              <a:cs typeface="Calibri"/>
              <a:sym typeface="Calibri"/>
            </a:endParaRPr>
          </a:p>
        </p:txBody>
      </p:sp>
      <p:sp>
        <p:nvSpPr>
          <p:cNvPr id="171" name="Google Shape;171;p5"/>
          <p:cNvSpPr txBox="1"/>
          <p:nvPr/>
        </p:nvSpPr>
        <p:spPr>
          <a:xfrm>
            <a:off x="1354267" y="3562988"/>
            <a:ext cx="2401800" cy="1048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NDIS participant &amp; budget dataset (Sep 2025)</a:t>
            </a:r>
            <a:endParaRPr b="0" i="0" sz="1700" u="none" cap="none" strike="noStrike">
              <a:solidFill>
                <a:schemeClr val="dk1"/>
              </a:solidFill>
              <a:latin typeface="Calibri"/>
              <a:ea typeface="Calibri"/>
              <a:cs typeface="Calibri"/>
              <a:sym typeface="Calibri"/>
            </a:endParaRPr>
          </a:p>
        </p:txBody>
      </p:sp>
      <p:sp>
        <p:nvSpPr>
          <p:cNvPr id="172" name="Google Shape;172;p5"/>
          <p:cNvSpPr txBox="1"/>
          <p:nvPr/>
        </p:nvSpPr>
        <p:spPr>
          <a:xfrm>
            <a:off x="4416287" y="3235494"/>
            <a:ext cx="2301000" cy="523200"/>
          </a:xfrm>
          <a:prstGeom prst="rect">
            <a:avLst/>
          </a:prstGeom>
          <a:noFill/>
          <a:ln>
            <a:noFill/>
          </a:ln>
        </p:spPr>
        <p:txBody>
          <a:bodyPr anchorCtr="0" anchor="t" bIns="91425" lIns="91425" spcFirstLastPara="1" rIns="91425" wrap="square" tIns="91425">
            <a:spAutoFit/>
          </a:bodyPr>
          <a:lstStyle/>
          <a:p>
            <a:pPr indent="0" lvl="0" marL="5715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Calibri"/>
                <a:ea typeface="Calibri"/>
                <a:cs typeface="Calibri"/>
                <a:sym typeface="Calibri"/>
              </a:rPr>
              <a:t>2. Clean &amp; Filter</a:t>
            </a:r>
            <a:endParaRPr b="1" i="0" sz="2200" u="none" cap="none" strike="noStrike">
              <a:solidFill>
                <a:schemeClr val="dk1"/>
              </a:solidFill>
              <a:latin typeface="Calibri"/>
              <a:ea typeface="Calibri"/>
              <a:cs typeface="Calibri"/>
              <a:sym typeface="Calibri"/>
            </a:endParaRPr>
          </a:p>
        </p:txBody>
      </p:sp>
      <p:sp>
        <p:nvSpPr>
          <p:cNvPr id="173" name="Google Shape;173;p5"/>
          <p:cNvSpPr txBox="1"/>
          <p:nvPr/>
        </p:nvSpPr>
        <p:spPr>
          <a:xfrm>
            <a:off x="4467753" y="3566876"/>
            <a:ext cx="2401800" cy="1048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Age=ALL, Support=ALL; handle masked counts (SA &amp; VIC)  </a:t>
            </a:r>
            <a:endParaRPr b="0" i="0" sz="1700" u="none" cap="none" strike="noStrike">
              <a:solidFill>
                <a:schemeClr val="dk1"/>
              </a:solidFill>
              <a:latin typeface="Calibri"/>
              <a:ea typeface="Calibri"/>
              <a:cs typeface="Calibri"/>
              <a:sym typeface="Calibri"/>
            </a:endParaRPr>
          </a:p>
        </p:txBody>
      </p:sp>
      <p:sp>
        <p:nvSpPr>
          <p:cNvPr id="174" name="Google Shape;174;p5"/>
          <p:cNvSpPr txBox="1"/>
          <p:nvPr/>
        </p:nvSpPr>
        <p:spPr>
          <a:xfrm>
            <a:off x="7581262" y="3235494"/>
            <a:ext cx="2301000" cy="523200"/>
          </a:xfrm>
          <a:prstGeom prst="rect">
            <a:avLst/>
          </a:prstGeom>
          <a:noFill/>
          <a:ln>
            <a:noFill/>
          </a:ln>
        </p:spPr>
        <p:txBody>
          <a:bodyPr anchorCtr="0" anchor="t" bIns="91425" lIns="91425" spcFirstLastPara="1" rIns="91425" wrap="square" tIns="91425">
            <a:spAutoFit/>
          </a:bodyPr>
          <a:lstStyle/>
          <a:p>
            <a:pPr indent="0" lvl="0" marL="5715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Calibri"/>
                <a:ea typeface="Calibri"/>
                <a:cs typeface="Calibri"/>
                <a:sym typeface="Calibri"/>
              </a:rPr>
              <a:t>3. Aggregate</a:t>
            </a:r>
            <a:endParaRPr b="1" i="0" sz="2200" u="none" cap="none" strike="noStrike">
              <a:solidFill>
                <a:schemeClr val="dk1"/>
              </a:solidFill>
              <a:latin typeface="Calibri"/>
              <a:ea typeface="Calibri"/>
              <a:cs typeface="Calibri"/>
              <a:sym typeface="Calibri"/>
            </a:endParaRPr>
          </a:p>
        </p:txBody>
      </p:sp>
      <p:sp>
        <p:nvSpPr>
          <p:cNvPr id="175" name="Google Shape;175;p5"/>
          <p:cNvSpPr txBox="1"/>
          <p:nvPr/>
        </p:nvSpPr>
        <p:spPr>
          <a:xfrm>
            <a:off x="7300350" y="3566867"/>
            <a:ext cx="2915100" cy="21048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Aggregate active participants by district (metro vs regional); budgets used for context only.</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Clr>
                <a:srgbClr val="000000"/>
              </a:buClr>
              <a:buSzPts val="1700"/>
              <a:buFont typeface="Arial"/>
              <a:buNone/>
            </a:pPr>
            <a:r>
              <a:t/>
            </a:r>
            <a:endParaRPr b="0" i="0" sz="1700" u="none" cap="none" strike="noStrike">
              <a:solidFill>
                <a:schemeClr val="dk1"/>
              </a:solidFill>
              <a:latin typeface="Calibri"/>
              <a:ea typeface="Calibri"/>
              <a:cs typeface="Calibri"/>
              <a:sym typeface="Calibri"/>
            </a:endParaRPr>
          </a:p>
        </p:txBody>
      </p:sp>
      <p:sp>
        <p:nvSpPr>
          <p:cNvPr id="176" name="Google Shape;176;p5"/>
          <p:cNvSpPr txBox="1"/>
          <p:nvPr/>
        </p:nvSpPr>
        <p:spPr>
          <a:xfrm>
            <a:off x="10667937" y="3267509"/>
            <a:ext cx="2301000" cy="523200"/>
          </a:xfrm>
          <a:prstGeom prst="rect">
            <a:avLst/>
          </a:prstGeom>
          <a:noFill/>
          <a:ln>
            <a:noFill/>
          </a:ln>
        </p:spPr>
        <p:txBody>
          <a:bodyPr anchorCtr="0" anchor="t" bIns="91425" lIns="91425" spcFirstLastPara="1" rIns="91425" wrap="square" tIns="91425">
            <a:spAutoFit/>
          </a:bodyPr>
          <a:lstStyle/>
          <a:p>
            <a:pPr indent="0" lvl="0" marL="5715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Calibri"/>
                <a:ea typeface="Calibri"/>
                <a:cs typeface="Calibri"/>
                <a:sym typeface="Calibri"/>
              </a:rPr>
              <a:t>4. Compare</a:t>
            </a:r>
            <a:endParaRPr b="1" i="0" sz="2200" u="none" cap="none" strike="noStrike">
              <a:solidFill>
                <a:schemeClr val="dk1"/>
              </a:solidFill>
              <a:latin typeface="Calibri"/>
              <a:ea typeface="Calibri"/>
              <a:cs typeface="Calibri"/>
              <a:sym typeface="Calibri"/>
            </a:endParaRPr>
          </a:p>
        </p:txBody>
      </p:sp>
      <p:sp>
        <p:nvSpPr>
          <p:cNvPr id="177" name="Google Shape;177;p5"/>
          <p:cNvSpPr txBox="1"/>
          <p:nvPr/>
        </p:nvSpPr>
        <p:spPr>
          <a:xfrm>
            <a:off x="10719403" y="3598890"/>
            <a:ext cx="2401800" cy="747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Metro vs Regional (SA vs VIC)</a:t>
            </a:r>
            <a:endParaRPr b="0" i="0" sz="1700" u="none" cap="none" strike="noStrike">
              <a:solidFill>
                <a:schemeClr val="dk1"/>
              </a:solidFill>
              <a:latin typeface="Calibri"/>
              <a:ea typeface="Calibri"/>
              <a:cs typeface="Calibri"/>
              <a:sym typeface="Calibri"/>
            </a:endParaRPr>
          </a:p>
        </p:txBody>
      </p:sp>
      <p:sp>
        <p:nvSpPr>
          <p:cNvPr id="178" name="Google Shape;178;p5"/>
          <p:cNvSpPr txBox="1"/>
          <p:nvPr/>
        </p:nvSpPr>
        <p:spPr>
          <a:xfrm>
            <a:off x="13814962" y="3312921"/>
            <a:ext cx="2301000" cy="523200"/>
          </a:xfrm>
          <a:prstGeom prst="rect">
            <a:avLst/>
          </a:prstGeom>
          <a:noFill/>
          <a:ln>
            <a:noFill/>
          </a:ln>
        </p:spPr>
        <p:txBody>
          <a:bodyPr anchorCtr="0" anchor="t" bIns="91425" lIns="91425" spcFirstLastPara="1" rIns="91425" wrap="square" tIns="91425">
            <a:spAutoFit/>
          </a:bodyPr>
          <a:lstStyle/>
          <a:p>
            <a:pPr indent="0" lvl="0" marL="57150" marR="0" rtl="0" algn="l">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Calibri"/>
                <a:ea typeface="Calibri"/>
                <a:cs typeface="Calibri"/>
                <a:sym typeface="Calibri"/>
              </a:rPr>
              <a:t>5. Forecast</a:t>
            </a:r>
            <a:endParaRPr b="1" i="0" sz="2200" u="none" cap="none" strike="noStrike">
              <a:solidFill>
                <a:schemeClr val="dk1"/>
              </a:solidFill>
              <a:latin typeface="Calibri"/>
              <a:ea typeface="Calibri"/>
              <a:cs typeface="Calibri"/>
              <a:sym typeface="Calibri"/>
            </a:endParaRPr>
          </a:p>
        </p:txBody>
      </p:sp>
      <p:sp>
        <p:nvSpPr>
          <p:cNvPr id="179" name="Google Shape;179;p5"/>
          <p:cNvSpPr txBox="1"/>
          <p:nvPr/>
        </p:nvSpPr>
        <p:spPr>
          <a:xfrm>
            <a:off x="13866428" y="3644302"/>
            <a:ext cx="24018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5-year scenario growth </a:t>
            </a:r>
            <a:endParaRPr b="0" i="0" sz="1700" u="none" cap="none" strike="noStrike">
              <a:solidFill>
                <a:schemeClr val="dk1"/>
              </a:solidFill>
              <a:latin typeface="Calibri"/>
              <a:ea typeface="Calibri"/>
              <a:cs typeface="Calibri"/>
              <a:sym typeface="Calibri"/>
            </a:endParaRPr>
          </a:p>
        </p:txBody>
      </p:sp>
      <p:sp>
        <p:nvSpPr>
          <p:cNvPr id="180" name="Google Shape;180;p5"/>
          <p:cNvSpPr txBox="1"/>
          <p:nvPr/>
        </p:nvSpPr>
        <p:spPr>
          <a:xfrm>
            <a:off x="845950" y="5813300"/>
            <a:ext cx="16733400" cy="18285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rgbClr val="000000"/>
              </a:buClr>
              <a:buSzPts val="2400"/>
              <a:buFont typeface="Calibri"/>
              <a:buChar char="●"/>
            </a:pPr>
            <a:r>
              <a:rPr b="0" i="0" lang="en-US" sz="2400" u="none" cap="none" strike="noStrike">
                <a:solidFill>
                  <a:srgbClr val="374151"/>
                </a:solidFill>
                <a:latin typeface="Calibri"/>
                <a:ea typeface="Calibri"/>
                <a:cs typeface="Calibri"/>
                <a:sym typeface="Calibri"/>
              </a:rPr>
              <a:t>Descriptive analytics: metro vs regional comparison of active participants and estimated committed budgets (Sep 2025 baseline).</a:t>
            </a:r>
            <a:endParaRPr b="0" i="0" sz="2400" u="none" cap="none" strike="noStrike">
              <a:solidFill>
                <a:srgbClr val="374151"/>
              </a:solidFill>
              <a:latin typeface="Calibri"/>
              <a:ea typeface="Calibri"/>
              <a:cs typeface="Calibri"/>
              <a:sym typeface="Calibri"/>
            </a:endParaRPr>
          </a:p>
          <a:p>
            <a:pPr indent="-381000" lvl="0" marL="457200" marR="0" rtl="0" algn="l">
              <a:lnSpc>
                <a:spcPct val="115000"/>
              </a:lnSpc>
              <a:spcBef>
                <a:spcPts val="0"/>
              </a:spcBef>
              <a:spcAft>
                <a:spcPts val="0"/>
              </a:spcAft>
              <a:buClr>
                <a:srgbClr val="000000"/>
              </a:buClr>
              <a:buSzPts val="2400"/>
              <a:buFont typeface="Calibri"/>
              <a:buChar char="●"/>
            </a:pPr>
            <a:r>
              <a:rPr b="0" i="0" lang="en-US" sz="2400" u="none" cap="none" strike="noStrike">
                <a:solidFill>
                  <a:srgbClr val="374151"/>
                </a:solidFill>
                <a:latin typeface="Calibri"/>
                <a:ea typeface="Calibri"/>
                <a:cs typeface="Calibri"/>
                <a:sym typeface="Calibri"/>
              </a:rPr>
              <a:t>Regression Analysis: Total NDIS active participants from 2020-2025 to quantify the relationship between time and participant growth.</a:t>
            </a:r>
            <a:endParaRPr b="0" i="0" sz="2400" u="none" cap="none" strike="noStrike">
              <a:solidFill>
                <a:srgbClr val="374151"/>
              </a:solidFill>
              <a:latin typeface="Calibri"/>
              <a:ea typeface="Calibri"/>
              <a:cs typeface="Calibri"/>
              <a:sym typeface="Calibri"/>
            </a:endParaRPr>
          </a:p>
          <a:p>
            <a:pPr indent="-381000" lvl="0" marL="457200" marR="0" rtl="0" algn="l">
              <a:lnSpc>
                <a:spcPct val="115000"/>
              </a:lnSpc>
              <a:spcBef>
                <a:spcPts val="0"/>
              </a:spcBef>
              <a:spcAft>
                <a:spcPts val="0"/>
              </a:spcAft>
              <a:buClr>
                <a:srgbClr val="000000"/>
              </a:buClr>
              <a:buSzPts val="2400"/>
              <a:buFont typeface="Calibri"/>
              <a:buChar char="●"/>
            </a:pPr>
            <a:r>
              <a:rPr b="0" i="0" lang="en-US" sz="2400" u="none" cap="none" strike="noStrike">
                <a:solidFill>
                  <a:srgbClr val="374151"/>
                </a:solidFill>
                <a:latin typeface="Calibri"/>
                <a:ea typeface="Calibri"/>
                <a:cs typeface="Calibri"/>
                <a:sym typeface="Calibri"/>
              </a:rPr>
              <a:t>Outputs are designed for provider workforce planning and policy resource allocation decisions.</a:t>
            </a:r>
            <a:endParaRPr b="0" i="0" sz="2400" u="none" cap="none" strike="noStrike">
              <a:solidFill>
                <a:srgbClr val="37415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6"/>
          <p:cNvSpPr/>
          <p:nvPr/>
        </p:nvSpPr>
        <p:spPr>
          <a:xfrm>
            <a:off x="0" y="0"/>
            <a:ext cx="18288000" cy="2793827"/>
          </a:xfrm>
          <a:prstGeom prst="rect">
            <a:avLst/>
          </a:prstGeom>
          <a:solidFill>
            <a:srgbClr val="7C98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6"/>
          <p:cNvSpPr txBox="1"/>
          <p:nvPr/>
        </p:nvSpPr>
        <p:spPr>
          <a:xfrm>
            <a:off x="1028700" y="923925"/>
            <a:ext cx="12567600" cy="923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i="0" lang="en-US" sz="6000" u="none" cap="none" strike="noStrike">
                <a:solidFill>
                  <a:schemeClr val="dk1"/>
                </a:solidFill>
                <a:latin typeface="Arial"/>
                <a:ea typeface="Arial"/>
                <a:cs typeface="Arial"/>
                <a:sym typeface="Arial"/>
              </a:rPr>
              <a:t>Descriptive Analytics SA vs VIC</a:t>
            </a:r>
            <a:endParaRPr b="1" i="0" sz="6000" u="none" cap="none" strike="noStrike">
              <a:solidFill>
                <a:schemeClr val="dk1"/>
              </a:solidFill>
              <a:latin typeface="Arial"/>
              <a:ea typeface="Arial"/>
              <a:cs typeface="Arial"/>
              <a:sym typeface="Arial"/>
            </a:endParaRPr>
          </a:p>
        </p:txBody>
      </p:sp>
      <p:sp>
        <p:nvSpPr>
          <p:cNvPr id="187" name="Google Shape;187;p6"/>
          <p:cNvSpPr txBox="1"/>
          <p:nvPr/>
        </p:nvSpPr>
        <p:spPr>
          <a:xfrm>
            <a:off x="1028700" y="1847325"/>
            <a:ext cx="97455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188" name="Google Shape;188;p6" title="Chart"/>
          <p:cNvPicPr preferRelativeResize="0"/>
          <p:nvPr/>
        </p:nvPicPr>
        <p:blipFill>
          <a:blip r:embed="rId3">
            <a:alphaModFix/>
          </a:blip>
          <a:stretch>
            <a:fillRect/>
          </a:stretch>
        </p:blipFill>
        <p:spPr>
          <a:xfrm>
            <a:off x="761499" y="3018625"/>
            <a:ext cx="6152100" cy="3804050"/>
          </a:xfrm>
          <a:prstGeom prst="rect">
            <a:avLst/>
          </a:prstGeom>
          <a:noFill/>
          <a:ln>
            <a:noFill/>
          </a:ln>
        </p:spPr>
      </p:pic>
      <p:pic>
        <p:nvPicPr>
          <p:cNvPr id="189" name="Google Shape;189;p6" title="Chart"/>
          <p:cNvPicPr preferRelativeResize="0"/>
          <p:nvPr/>
        </p:nvPicPr>
        <p:blipFill rotWithShape="1">
          <a:blip r:embed="rId4">
            <a:alphaModFix/>
          </a:blip>
          <a:srcRect b="0" l="0" r="0" t="0"/>
          <a:stretch/>
        </p:blipFill>
        <p:spPr>
          <a:xfrm>
            <a:off x="761500" y="6620475"/>
            <a:ext cx="5929674" cy="3666524"/>
          </a:xfrm>
          <a:prstGeom prst="rect">
            <a:avLst/>
          </a:prstGeom>
          <a:noFill/>
          <a:ln>
            <a:noFill/>
          </a:ln>
        </p:spPr>
      </p:pic>
      <p:sp>
        <p:nvSpPr>
          <p:cNvPr id="190" name="Google Shape;190;p6"/>
          <p:cNvSpPr txBox="1"/>
          <p:nvPr/>
        </p:nvSpPr>
        <p:spPr>
          <a:xfrm>
            <a:off x="7766200" y="3206600"/>
            <a:ext cx="9656700" cy="54489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Char char="●"/>
            </a:pPr>
            <a:r>
              <a:rPr b="1" lang="en-US" sz="1900">
                <a:solidFill>
                  <a:schemeClr val="dk1"/>
                </a:solidFill>
              </a:rPr>
              <a:t>Post-cleaning results:</a:t>
            </a:r>
            <a:r>
              <a:rPr lang="en-US" sz="1900">
                <a:solidFill>
                  <a:schemeClr val="dk1"/>
                </a:solidFill>
              </a:rPr>
              <a:t> Following midpoint estimation to address NDIA-masked small cell values, the distributions reflect adjusted but comparable participant counts rather than exact totals.</a:t>
            </a:r>
            <a:br>
              <a:rPr lang="en-US" sz="1900">
                <a:solidFill>
                  <a:schemeClr val="dk1"/>
                </a:solidFill>
              </a:rPr>
            </a:b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rPr>
              <a:t>Metropolitan dominance remains:</a:t>
            </a:r>
            <a:r>
              <a:rPr lang="en-US" sz="1900">
                <a:solidFill>
                  <a:schemeClr val="dk1"/>
                </a:solidFill>
              </a:rPr>
              <a:t> In both states, NDIS participation is concentrated in metropolitan areas, consistent with population density and service availability.</a:t>
            </a:r>
            <a:br>
              <a:rPr lang="en-US" sz="1900">
                <a:solidFill>
                  <a:schemeClr val="dk1"/>
                </a:solidFill>
              </a:rPr>
            </a:b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highlight>
                  <a:srgbClr val="F1C232"/>
                </a:highlight>
              </a:rPr>
              <a:t>Relatively higher regional share in SA:</a:t>
            </a:r>
            <a:r>
              <a:rPr lang="en-US" sz="1900">
                <a:solidFill>
                  <a:schemeClr val="dk1"/>
                </a:solidFill>
                <a:highlight>
                  <a:srgbClr val="F1C232"/>
                </a:highlight>
              </a:rPr>
              <a:t> After cleaning, South Australia still shows a higher proportional reliance on regional participants compared with Victoria.</a:t>
            </a:r>
            <a:br>
              <a:rPr lang="en-US" sz="1900">
                <a:solidFill>
                  <a:schemeClr val="dk1"/>
                </a:solidFill>
              </a:rPr>
            </a:br>
            <a:endParaRPr sz="1900">
              <a:solidFill>
                <a:schemeClr val="dk1"/>
              </a:solidFill>
            </a:endParaRPr>
          </a:p>
          <a:p>
            <a:pPr indent="-349250" lvl="0" marL="457200" rtl="0" algn="l">
              <a:spcBef>
                <a:spcPts val="0"/>
              </a:spcBef>
              <a:spcAft>
                <a:spcPts val="0"/>
              </a:spcAft>
              <a:buClr>
                <a:schemeClr val="dk1"/>
              </a:buClr>
              <a:buSzPts val="1900"/>
              <a:buChar char="●"/>
            </a:pPr>
            <a:r>
              <a:rPr b="1" lang="en-US" sz="1900">
                <a:solidFill>
                  <a:schemeClr val="dk1"/>
                </a:solidFill>
                <a:highlight>
                  <a:srgbClr val="F1C232"/>
                </a:highlight>
              </a:rPr>
              <a:t>Sustained growth trend:</a:t>
            </a:r>
            <a:r>
              <a:rPr lang="en-US" sz="1900">
                <a:solidFill>
                  <a:schemeClr val="dk1"/>
                </a:solidFill>
                <a:highlight>
                  <a:srgbClr val="F1C232"/>
                </a:highlight>
              </a:rPr>
              <a:t> NDIS coverage has increased steadily in both states from 2020–2025, with South Australia maintaining a higher participation rate relative to population.</a:t>
            </a:r>
            <a:br>
              <a:rPr lang="en-US" sz="1900">
                <a:solidFill>
                  <a:schemeClr val="dk1"/>
                </a:solidFill>
              </a:rPr>
            </a:br>
            <a:endParaRPr sz="1900">
              <a:solidFill>
                <a:schemeClr val="dk1"/>
              </a:solidFill>
            </a:endParaRPr>
          </a:p>
          <a:p>
            <a:pPr indent="-349250" lvl="0" marL="457200" rtl="0" algn="l">
              <a:spcBef>
                <a:spcPts val="0"/>
              </a:spcBef>
              <a:spcAft>
                <a:spcPts val="0"/>
              </a:spcAft>
              <a:buClr>
                <a:schemeClr val="dk1"/>
              </a:buClr>
              <a:buSzPts val="1900"/>
              <a:buChar char="●"/>
            </a:pPr>
            <a:r>
              <a:rPr b="1" lang="en-US" sz="1900" u="sng">
                <a:solidFill>
                  <a:schemeClr val="dk1"/>
                </a:solidFill>
              </a:rPr>
              <a:t>Planning implication:</a:t>
            </a:r>
            <a:r>
              <a:rPr lang="en-US" sz="1900" u="sng">
                <a:solidFill>
                  <a:schemeClr val="dk1"/>
                </a:solidFill>
              </a:rPr>
              <a:t> The adjusted results reinforce the need for regional service planning in South Australia to ensure equitable access following continued participant growth.</a:t>
            </a:r>
            <a:endParaRPr sz="4000" u="sng">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b6443afb2b_0_46"/>
          <p:cNvSpPr/>
          <p:nvPr/>
        </p:nvSpPr>
        <p:spPr>
          <a:xfrm>
            <a:off x="0" y="0"/>
            <a:ext cx="18288000" cy="2793900"/>
          </a:xfrm>
          <a:prstGeom prst="rect">
            <a:avLst/>
          </a:prstGeom>
          <a:solidFill>
            <a:srgbClr val="7C98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3b6443afb2b_0_46"/>
          <p:cNvSpPr txBox="1"/>
          <p:nvPr/>
        </p:nvSpPr>
        <p:spPr>
          <a:xfrm>
            <a:off x="1028700" y="923925"/>
            <a:ext cx="16579800" cy="923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i="0" lang="en-US" sz="6000" u="none" cap="none" strike="noStrike">
                <a:solidFill>
                  <a:schemeClr val="dk1"/>
                </a:solidFill>
                <a:latin typeface="Arial"/>
                <a:ea typeface="Arial"/>
                <a:cs typeface="Arial"/>
                <a:sym typeface="Arial"/>
              </a:rPr>
              <a:t>Descriptive Analytics - </a:t>
            </a:r>
            <a:r>
              <a:rPr b="1" lang="en-US" sz="6000">
                <a:solidFill>
                  <a:schemeClr val="dk1"/>
                </a:solidFill>
              </a:rPr>
              <a:t>Suburb</a:t>
            </a:r>
            <a:r>
              <a:rPr b="1" lang="en-US" sz="6000">
                <a:solidFill>
                  <a:schemeClr val="dk1"/>
                </a:solidFill>
              </a:rPr>
              <a:t> (SA vs VIC)</a:t>
            </a:r>
            <a:endParaRPr b="1" i="0" sz="6000" u="none" cap="none" strike="noStrike">
              <a:solidFill>
                <a:schemeClr val="dk1"/>
              </a:solidFill>
              <a:latin typeface="Arial"/>
              <a:ea typeface="Arial"/>
              <a:cs typeface="Arial"/>
              <a:sym typeface="Arial"/>
            </a:endParaRPr>
          </a:p>
        </p:txBody>
      </p:sp>
      <p:sp>
        <p:nvSpPr>
          <p:cNvPr id="197" name="Google Shape;197;g3b6443afb2b_0_46"/>
          <p:cNvSpPr txBox="1"/>
          <p:nvPr/>
        </p:nvSpPr>
        <p:spPr>
          <a:xfrm>
            <a:off x="1028700" y="1847325"/>
            <a:ext cx="97455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198" name="Google Shape;198;g3b6443afb2b_0_46" title="Chart"/>
          <p:cNvPicPr preferRelativeResize="0"/>
          <p:nvPr/>
        </p:nvPicPr>
        <p:blipFill rotWithShape="1">
          <a:blip r:embed="rId3">
            <a:alphaModFix/>
          </a:blip>
          <a:srcRect b="6950" l="0" r="12891" t="0"/>
          <a:stretch/>
        </p:blipFill>
        <p:spPr>
          <a:xfrm>
            <a:off x="576625" y="2907562"/>
            <a:ext cx="8802150" cy="3617900"/>
          </a:xfrm>
          <a:prstGeom prst="rect">
            <a:avLst/>
          </a:prstGeom>
          <a:noFill/>
          <a:ln>
            <a:noFill/>
          </a:ln>
        </p:spPr>
      </p:pic>
      <p:pic>
        <p:nvPicPr>
          <p:cNvPr id="199" name="Google Shape;199;g3b6443afb2b_0_46" title="Chart"/>
          <p:cNvPicPr preferRelativeResize="0"/>
          <p:nvPr/>
        </p:nvPicPr>
        <p:blipFill rotWithShape="1">
          <a:blip r:embed="rId4">
            <a:alphaModFix/>
          </a:blip>
          <a:srcRect b="8298" l="0" r="6217" t="0"/>
          <a:stretch/>
        </p:blipFill>
        <p:spPr>
          <a:xfrm>
            <a:off x="1036452" y="6639125"/>
            <a:ext cx="8082823" cy="3258574"/>
          </a:xfrm>
          <a:prstGeom prst="rect">
            <a:avLst/>
          </a:prstGeom>
          <a:noFill/>
          <a:ln>
            <a:noFill/>
          </a:ln>
        </p:spPr>
      </p:pic>
      <p:sp>
        <p:nvSpPr>
          <p:cNvPr id="200" name="Google Shape;200;g3b6443afb2b_0_46"/>
          <p:cNvSpPr txBox="1"/>
          <p:nvPr/>
        </p:nvSpPr>
        <p:spPr>
          <a:xfrm>
            <a:off x="9119275" y="3002700"/>
            <a:ext cx="8859900" cy="72036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chemeClr val="dk1"/>
              </a:buClr>
              <a:buSzPts val="1900"/>
              <a:buChar char="●"/>
            </a:pPr>
            <a:r>
              <a:rPr lang="en-US" sz="1900">
                <a:solidFill>
                  <a:schemeClr val="dk1"/>
                </a:solidFill>
              </a:rPr>
              <a:t>SA regional context: After midpoint cleaning of masked NDIA values, South Australia shows a dispersed regional NDIS participant base, with smaller counts spread across multiple districts, increasing service delivery and workforce complexity.</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Participant relevance: Geographic dispersion increases the risk of uneven access, longer wait times, and service gaps for participants in outer regional areas.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highlight>
                  <a:srgbClr val="F1C232"/>
                </a:highlight>
              </a:rPr>
              <a:t>Policy relevance: Comparing SA against VIC highlights structural differences rather than funding priority, helping identify where SA’s regional areas may face higher access risks despite lower absolute numbers.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highlight>
                  <a:srgbClr val="F1C232"/>
                </a:highlight>
              </a:rPr>
              <a:t>Service provider relevance: Lower volumes per region affect provider sustainability, workforce allocation, and travel costs, requiring providers to operate across wider catchments to remain viable.</a:t>
            </a:r>
            <a:endParaRPr sz="1900">
              <a:solidFill>
                <a:schemeClr val="dk1"/>
              </a:solidFill>
              <a:highlight>
                <a:srgbClr val="F1C232"/>
              </a:highlight>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highlight>
                  <a:srgbClr val="F1C232"/>
                </a:highlight>
              </a:rPr>
              <a:t>Government relevance: Understanding regional dispersion supports informed workforce planning, service commissioning, and infrastructure decisions, ensuring policy responses reflect service delivery complexity rather than total participant counts.</a:t>
            </a:r>
            <a:endParaRPr sz="1900">
              <a:solidFill>
                <a:schemeClr val="dk1"/>
              </a:solidFill>
              <a:highlight>
                <a:srgbClr val="F1C232"/>
              </a:highlight>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Analytical value: Descriptive analysis at the regional level reveals structural service challenges that are not visible in state-level totals, informing downstream forecasting and planning decisions.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t/>
            </a:r>
            <a:endParaRPr sz="1900">
              <a:solidFill>
                <a:schemeClr val="dk1"/>
              </a:solidFill>
              <a:highlight>
                <a:srgbClr val="F1C232"/>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b6443afb2b_0_56"/>
          <p:cNvSpPr/>
          <p:nvPr/>
        </p:nvSpPr>
        <p:spPr>
          <a:xfrm>
            <a:off x="0" y="0"/>
            <a:ext cx="18288000" cy="2793900"/>
          </a:xfrm>
          <a:prstGeom prst="rect">
            <a:avLst/>
          </a:prstGeom>
          <a:solidFill>
            <a:srgbClr val="7C98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3b6443afb2b_0_56"/>
          <p:cNvSpPr txBox="1"/>
          <p:nvPr/>
        </p:nvSpPr>
        <p:spPr>
          <a:xfrm>
            <a:off x="1028700" y="923925"/>
            <a:ext cx="16579800" cy="923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i="0" lang="en-US" sz="6000" u="none" cap="none" strike="noStrike">
                <a:solidFill>
                  <a:schemeClr val="dk1"/>
                </a:solidFill>
                <a:latin typeface="Arial"/>
                <a:ea typeface="Arial"/>
                <a:cs typeface="Arial"/>
                <a:sym typeface="Arial"/>
              </a:rPr>
              <a:t>Descriptive Analytics - </a:t>
            </a:r>
            <a:r>
              <a:rPr b="1" lang="en-US" sz="6000">
                <a:solidFill>
                  <a:schemeClr val="dk1"/>
                </a:solidFill>
              </a:rPr>
              <a:t>Age Band</a:t>
            </a:r>
            <a:r>
              <a:rPr b="1" lang="en-US" sz="6000">
                <a:solidFill>
                  <a:schemeClr val="dk1"/>
                </a:solidFill>
              </a:rPr>
              <a:t> (SA vs VIC)</a:t>
            </a:r>
            <a:endParaRPr b="1" i="0" sz="6000" u="none" cap="none" strike="noStrike">
              <a:solidFill>
                <a:schemeClr val="dk1"/>
              </a:solidFill>
              <a:latin typeface="Arial"/>
              <a:ea typeface="Arial"/>
              <a:cs typeface="Arial"/>
              <a:sym typeface="Arial"/>
            </a:endParaRPr>
          </a:p>
        </p:txBody>
      </p:sp>
      <p:sp>
        <p:nvSpPr>
          <p:cNvPr id="207" name="Google Shape;207;g3b6443afb2b_0_56"/>
          <p:cNvSpPr txBox="1"/>
          <p:nvPr/>
        </p:nvSpPr>
        <p:spPr>
          <a:xfrm>
            <a:off x="1028700" y="1847325"/>
            <a:ext cx="97455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208" name="Google Shape;208;g3b6443afb2b_0_56" title="Chart"/>
          <p:cNvPicPr preferRelativeResize="0"/>
          <p:nvPr/>
        </p:nvPicPr>
        <p:blipFill rotWithShape="1">
          <a:blip r:embed="rId3">
            <a:alphaModFix/>
          </a:blip>
          <a:srcRect b="9090" l="0" r="8525" t="0"/>
          <a:stretch/>
        </p:blipFill>
        <p:spPr>
          <a:xfrm>
            <a:off x="1028700" y="3025425"/>
            <a:ext cx="7942299" cy="4082675"/>
          </a:xfrm>
          <a:prstGeom prst="rect">
            <a:avLst/>
          </a:prstGeom>
          <a:noFill/>
          <a:ln>
            <a:noFill/>
          </a:ln>
        </p:spPr>
      </p:pic>
      <p:pic>
        <p:nvPicPr>
          <p:cNvPr id="209" name="Google Shape;209;g3b6443afb2b_0_56" title="Chart"/>
          <p:cNvPicPr preferRelativeResize="0"/>
          <p:nvPr/>
        </p:nvPicPr>
        <p:blipFill rotWithShape="1">
          <a:blip r:embed="rId4">
            <a:alphaModFix/>
          </a:blip>
          <a:srcRect b="10152" l="0" r="3614" t="0"/>
          <a:stretch/>
        </p:blipFill>
        <p:spPr>
          <a:xfrm>
            <a:off x="970496" y="6676450"/>
            <a:ext cx="7574199" cy="3320226"/>
          </a:xfrm>
          <a:prstGeom prst="rect">
            <a:avLst/>
          </a:prstGeom>
          <a:noFill/>
          <a:ln>
            <a:noFill/>
          </a:ln>
        </p:spPr>
      </p:pic>
      <p:sp>
        <p:nvSpPr>
          <p:cNvPr id="210" name="Google Shape;210;g3b6443afb2b_0_56"/>
          <p:cNvSpPr txBox="1"/>
          <p:nvPr/>
        </p:nvSpPr>
        <p:spPr>
          <a:xfrm>
            <a:off x="9360250" y="2784468"/>
            <a:ext cx="8600400" cy="78762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chemeClr val="dk1"/>
              </a:buClr>
              <a:buSzPts val="1900"/>
              <a:buChar char="●"/>
            </a:pPr>
            <a:r>
              <a:rPr b="1" lang="en-US" sz="1900">
                <a:solidFill>
                  <a:schemeClr val="dk1"/>
                </a:solidFill>
                <a:highlight>
                  <a:srgbClr val="F1C232"/>
                </a:highlight>
              </a:rPr>
              <a:t>Early-life demand concentration:</a:t>
            </a:r>
            <a:r>
              <a:rPr lang="en-US" sz="1900">
                <a:solidFill>
                  <a:schemeClr val="dk1"/>
                </a:solidFill>
                <a:highlight>
                  <a:srgbClr val="F1C232"/>
                </a:highlight>
              </a:rPr>
              <a:t> In regional SA, the largest participant groups are aged </a:t>
            </a:r>
            <a:r>
              <a:rPr b="1" lang="en-US" sz="1900">
                <a:solidFill>
                  <a:schemeClr val="dk1"/>
                </a:solidFill>
                <a:highlight>
                  <a:srgbClr val="F1C232"/>
                </a:highlight>
              </a:rPr>
              <a:t>0–8 and 9–14</a:t>
            </a:r>
            <a:r>
              <a:rPr lang="en-US" sz="1900">
                <a:solidFill>
                  <a:schemeClr val="dk1"/>
                </a:solidFill>
                <a:highlight>
                  <a:srgbClr val="F1C232"/>
                </a:highlight>
              </a:rPr>
              <a:t>, indicating sustained demand for early-intervention, therapy, and family-based services outside metropolitan areas.</a:t>
            </a:r>
            <a:br>
              <a:rPr lang="en-US" sz="1900">
                <a:solidFill>
                  <a:schemeClr val="dk1"/>
                </a:solidFill>
              </a:rPr>
            </a:b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Workforce planning risk:</a:t>
            </a:r>
            <a:r>
              <a:rPr lang="en-US" sz="1900">
                <a:solidFill>
                  <a:schemeClr val="dk1"/>
                </a:solidFill>
              </a:rPr>
              <a:t> Regional SA has smaller absolute numbers across adult age bands compared to VIC, but service needs remain equally complex, requiring providers to maintain broad skill coverage despite lower economies of scale.</a:t>
            </a:r>
            <a:br>
              <a:rPr lang="en-US" sz="1900">
                <a:solidFill>
                  <a:schemeClr val="dk1"/>
                </a:solidFill>
              </a:rPr>
            </a:b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Benchmarking value of VIC:</a:t>
            </a:r>
            <a:r>
              <a:rPr lang="en-US" sz="1900">
                <a:solidFill>
                  <a:schemeClr val="dk1"/>
                </a:solidFill>
              </a:rPr>
              <a:t> VIC’s larger and more evenly distributed age-band volumes provide a benchmark for mature service ecosystems, highlighting where SA may face higher delivery pressure per participant.</a:t>
            </a:r>
            <a:br>
              <a:rPr lang="en-US" sz="1900">
                <a:solidFill>
                  <a:schemeClr val="dk1"/>
                </a:solidFill>
              </a:rPr>
            </a:b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highlight>
                  <a:srgbClr val="F1C232"/>
                </a:highlight>
              </a:rPr>
              <a:t>Service continuity:</a:t>
            </a:r>
            <a:r>
              <a:rPr lang="en-US" sz="1900">
                <a:solidFill>
                  <a:schemeClr val="dk1"/>
                </a:solidFill>
                <a:highlight>
                  <a:srgbClr val="F1C232"/>
                </a:highlight>
              </a:rPr>
              <a:t> The age-band spread suggests participants will transition through multiple life stages within regional systems, reinforcing the need for long-term service availability rather than short-term or metro-dependent provision.</a:t>
            </a:r>
            <a:br>
              <a:rPr lang="en-US" sz="1900">
                <a:solidFill>
                  <a:schemeClr val="dk1"/>
                </a:solidFill>
              </a:rPr>
            </a:b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Equity implication:</a:t>
            </a:r>
            <a:r>
              <a:rPr lang="en-US" sz="1900">
                <a:solidFill>
                  <a:schemeClr val="dk1"/>
                </a:solidFill>
              </a:rPr>
              <a:t> Lower participant density in SA regions does not reduce service obligation; providers must ensure consistent access and quality across all age groups to prevent regional disadvantage.</a:t>
            </a:r>
            <a:br>
              <a:rPr lang="en-US" sz="1900">
                <a:solidFill>
                  <a:schemeClr val="dk1"/>
                </a:solidFill>
              </a:rPr>
            </a:br>
            <a:endParaRPr sz="19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b6443afb2b_0_67"/>
          <p:cNvSpPr/>
          <p:nvPr/>
        </p:nvSpPr>
        <p:spPr>
          <a:xfrm>
            <a:off x="0" y="0"/>
            <a:ext cx="18288000" cy="2793900"/>
          </a:xfrm>
          <a:prstGeom prst="rect">
            <a:avLst/>
          </a:prstGeom>
          <a:solidFill>
            <a:srgbClr val="7C98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3b6443afb2b_0_67"/>
          <p:cNvSpPr txBox="1"/>
          <p:nvPr/>
        </p:nvSpPr>
        <p:spPr>
          <a:xfrm>
            <a:off x="1028700" y="923925"/>
            <a:ext cx="16579800" cy="923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i="0" lang="en-US" sz="6000" u="none" cap="none" strike="noStrike">
                <a:solidFill>
                  <a:schemeClr val="dk1"/>
                </a:solidFill>
                <a:latin typeface="Arial"/>
                <a:ea typeface="Arial"/>
                <a:cs typeface="Arial"/>
                <a:sym typeface="Arial"/>
              </a:rPr>
              <a:t>Descriptive Analytics - </a:t>
            </a:r>
            <a:r>
              <a:rPr b="1" lang="en-US" sz="6000">
                <a:solidFill>
                  <a:schemeClr val="dk1"/>
                </a:solidFill>
              </a:rPr>
              <a:t>Support</a:t>
            </a:r>
            <a:r>
              <a:rPr b="1" lang="en-US" sz="6000">
                <a:solidFill>
                  <a:schemeClr val="dk1"/>
                </a:solidFill>
              </a:rPr>
              <a:t> (SA vs VIC)</a:t>
            </a:r>
            <a:endParaRPr b="1" i="0" sz="6000" u="none" cap="none" strike="noStrike">
              <a:solidFill>
                <a:schemeClr val="dk1"/>
              </a:solidFill>
              <a:latin typeface="Arial"/>
              <a:ea typeface="Arial"/>
              <a:cs typeface="Arial"/>
              <a:sym typeface="Arial"/>
            </a:endParaRPr>
          </a:p>
        </p:txBody>
      </p:sp>
      <p:sp>
        <p:nvSpPr>
          <p:cNvPr id="217" name="Google Shape;217;g3b6443afb2b_0_67"/>
          <p:cNvSpPr txBox="1"/>
          <p:nvPr/>
        </p:nvSpPr>
        <p:spPr>
          <a:xfrm>
            <a:off x="1028700" y="1847325"/>
            <a:ext cx="97455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218" name="Google Shape;218;g3b6443afb2b_0_67" title="Chart"/>
          <p:cNvPicPr preferRelativeResize="0"/>
          <p:nvPr/>
        </p:nvPicPr>
        <p:blipFill>
          <a:blip r:embed="rId3">
            <a:alphaModFix/>
          </a:blip>
          <a:stretch>
            <a:fillRect/>
          </a:stretch>
        </p:blipFill>
        <p:spPr>
          <a:xfrm>
            <a:off x="1414750" y="2982275"/>
            <a:ext cx="5786676" cy="3578100"/>
          </a:xfrm>
          <a:prstGeom prst="rect">
            <a:avLst/>
          </a:prstGeom>
          <a:noFill/>
          <a:ln>
            <a:noFill/>
          </a:ln>
        </p:spPr>
      </p:pic>
      <p:pic>
        <p:nvPicPr>
          <p:cNvPr id="219" name="Google Shape;219;g3b6443afb2b_0_67" title="Chart"/>
          <p:cNvPicPr preferRelativeResize="0"/>
          <p:nvPr/>
        </p:nvPicPr>
        <p:blipFill>
          <a:blip r:embed="rId4">
            <a:alphaModFix/>
          </a:blip>
          <a:stretch>
            <a:fillRect/>
          </a:stretch>
        </p:blipFill>
        <p:spPr>
          <a:xfrm>
            <a:off x="1414750" y="6560375"/>
            <a:ext cx="5286426" cy="3268775"/>
          </a:xfrm>
          <a:prstGeom prst="rect">
            <a:avLst/>
          </a:prstGeom>
          <a:noFill/>
          <a:ln>
            <a:noFill/>
          </a:ln>
        </p:spPr>
      </p:pic>
      <p:sp>
        <p:nvSpPr>
          <p:cNvPr id="220" name="Google Shape;220;g3b6443afb2b_0_67"/>
          <p:cNvSpPr txBox="1"/>
          <p:nvPr/>
        </p:nvSpPr>
        <p:spPr>
          <a:xfrm>
            <a:off x="8637375" y="3540200"/>
            <a:ext cx="8266800" cy="36942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Char char="●"/>
            </a:pPr>
            <a:r>
              <a:rPr lang="en-US" sz="1900">
                <a:solidFill>
                  <a:schemeClr val="dk1"/>
                </a:solidFill>
              </a:rPr>
              <a:t>Support profile: Demand is dominated by Capacity Building, followed by Core, indicating ongoing, service-intensive participant needs.</a:t>
            </a:r>
            <a:br>
              <a:rPr lang="en-US" sz="1900">
                <a:solidFill>
                  <a:schemeClr val="dk1"/>
                </a:solidFill>
              </a:rPr>
            </a:br>
            <a:endParaRPr sz="1900">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rPr>
              <a:t>Participants: High Capacity Building share implies longer-term engagement and reliance on consistent service access.</a:t>
            </a:r>
            <a:br>
              <a:rPr lang="en-US" sz="1900">
                <a:solidFill>
                  <a:schemeClr val="dk1"/>
                </a:solidFill>
              </a:rPr>
            </a:br>
            <a:endParaRPr sz="1900">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highlight>
                  <a:srgbClr val="F1C232"/>
                </a:highlight>
              </a:rPr>
              <a:t>Service providers: Requires a stable, skilled workforce and sustained service availability, not episodic delivery.</a:t>
            </a:r>
            <a:br>
              <a:rPr lang="en-US" sz="1900">
                <a:solidFill>
                  <a:schemeClr val="dk1"/>
                </a:solidFill>
              </a:rPr>
            </a:br>
            <a:endParaRPr sz="1900">
              <a:solidFill>
                <a:schemeClr val="dk1"/>
              </a:solidFill>
            </a:endParaRPr>
          </a:p>
          <a:p>
            <a:pPr indent="-349250" lvl="0" marL="457200" rtl="0" algn="l">
              <a:spcBef>
                <a:spcPts val="0"/>
              </a:spcBef>
              <a:spcAft>
                <a:spcPts val="0"/>
              </a:spcAft>
              <a:buClr>
                <a:schemeClr val="dk1"/>
              </a:buClr>
              <a:buSzPts val="1900"/>
              <a:buChar char="●"/>
            </a:pPr>
            <a:r>
              <a:rPr lang="en-US" sz="1900">
                <a:solidFill>
                  <a:schemeClr val="dk1"/>
                </a:solidFill>
              </a:rPr>
              <a:t>Government: Support mix informs funding design, workforce planning, and market sustainability, beyond simple participant counts.</a:t>
            </a:r>
            <a:endParaRPr sz="1900">
              <a:solidFill>
                <a:schemeClr val="dk1"/>
              </a:solidFill>
            </a:endParaRPr>
          </a:p>
          <a:p>
            <a:pPr indent="0" lvl="0" marL="457200" rtl="0" algn="l">
              <a:spcBef>
                <a:spcPts val="0"/>
              </a:spcBef>
              <a:spcAft>
                <a:spcPts val="0"/>
              </a:spcAft>
              <a:buNone/>
            </a:pPr>
            <a:r>
              <a:t/>
            </a:r>
            <a:endParaRPr sz="1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b76fa3d5dd_0_497"/>
          <p:cNvSpPr/>
          <p:nvPr/>
        </p:nvSpPr>
        <p:spPr>
          <a:xfrm>
            <a:off x="0" y="0"/>
            <a:ext cx="18288000" cy="2793900"/>
          </a:xfrm>
          <a:prstGeom prst="rect">
            <a:avLst/>
          </a:prstGeom>
          <a:solidFill>
            <a:srgbClr val="7C98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g3b76fa3d5dd_0_497"/>
          <p:cNvSpPr txBox="1"/>
          <p:nvPr/>
        </p:nvSpPr>
        <p:spPr>
          <a:xfrm>
            <a:off x="1028700" y="923925"/>
            <a:ext cx="12567600" cy="923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i="0" lang="en-US" sz="6000" u="none" cap="none" strike="noStrike">
                <a:solidFill>
                  <a:schemeClr val="dk1"/>
                </a:solidFill>
                <a:latin typeface="Arial"/>
                <a:ea typeface="Arial"/>
                <a:cs typeface="Arial"/>
                <a:sym typeface="Arial"/>
              </a:rPr>
              <a:t>Regression Analysis</a:t>
            </a:r>
            <a:endParaRPr b="1" i="0" sz="6000" u="none" cap="none" strike="noStrike">
              <a:solidFill>
                <a:schemeClr val="dk1"/>
              </a:solidFill>
              <a:latin typeface="Arial"/>
              <a:ea typeface="Arial"/>
              <a:cs typeface="Arial"/>
              <a:sym typeface="Arial"/>
            </a:endParaRPr>
          </a:p>
        </p:txBody>
      </p:sp>
      <p:sp>
        <p:nvSpPr>
          <p:cNvPr id="227" name="Google Shape;227;g3b76fa3d5dd_0_497"/>
          <p:cNvSpPr txBox="1"/>
          <p:nvPr/>
        </p:nvSpPr>
        <p:spPr>
          <a:xfrm>
            <a:off x="1028700" y="1847325"/>
            <a:ext cx="97455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228" name="Google Shape;228;g3b76fa3d5dd_0_497"/>
          <p:cNvSpPr txBox="1"/>
          <p:nvPr/>
        </p:nvSpPr>
        <p:spPr>
          <a:xfrm>
            <a:off x="10337750" y="2972200"/>
            <a:ext cx="7698300" cy="639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300"/>
              <a:buFont typeface="Arial"/>
              <a:buNone/>
            </a:pPr>
            <a:r>
              <a:t/>
            </a:r>
            <a:endParaRPr b="1" i="0" sz="2300" u="none" cap="none" strike="noStrike">
              <a:solidFill>
                <a:schemeClr val="dk1"/>
              </a:solidFill>
              <a:latin typeface="Arial"/>
              <a:ea typeface="Arial"/>
              <a:cs typeface="Arial"/>
              <a:sym typeface="Arial"/>
            </a:endParaRPr>
          </a:p>
          <a:p>
            <a:pPr indent="-374650" lvl="0" marL="457200" marR="0" rtl="0" algn="l">
              <a:lnSpc>
                <a:spcPct val="115000"/>
              </a:lnSpc>
              <a:spcBef>
                <a:spcPts val="1200"/>
              </a:spcBef>
              <a:spcAft>
                <a:spcPts val="0"/>
              </a:spcAft>
              <a:buClr>
                <a:schemeClr val="dk1"/>
              </a:buClr>
              <a:buSzPts val="2300"/>
              <a:buFont typeface="Arial"/>
              <a:buChar char="●"/>
            </a:pPr>
            <a:r>
              <a:rPr b="1" i="0" lang="en-US" sz="2300" u="none" cap="none" strike="noStrike">
                <a:solidFill>
                  <a:schemeClr val="dk1"/>
                </a:solidFill>
                <a:latin typeface="Arial"/>
                <a:ea typeface="Arial"/>
                <a:cs typeface="Arial"/>
                <a:sym typeface="Arial"/>
              </a:rPr>
              <a:t>Positive time effect:</a:t>
            </a:r>
            <a:r>
              <a:rPr b="0" i="0" lang="en-US" sz="2300" u="none" cap="none" strike="noStrike">
                <a:solidFill>
                  <a:schemeClr val="dk1"/>
                </a:solidFill>
                <a:latin typeface="Arial"/>
                <a:ea typeface="Arial"/>
                <a:cs typeface="Arial"/>
                <a:sym typeface="Arial"/>
              </a:rPr>
              <a:t> The upward slope of both regression lines indicates that NDIS coverage has increased steadily over time in both South Australia and Victoria.</a:t>
            </a:r>
            <a:br>
              <a:rPr b="0" i="0" lang="en-US" sz="2300" u="none" cap="none" strike="noStrike">
                <a:solidFill>
                  <a:schemeClr val="dk1"/>
                </a:solidFill>
                <a:latin typeface="Arial"/>
                <a:ea typeface="Arial"/>
                <a:cs typeface="Arial"/>
                <a:sym typeface="Arial"/>
              </a:rPr>
            </a:br>
            <a:endParaRPr b="0" i="0" sz="2300" u="none" cap="none" strike="noStrike">
              <a:solidFill>
                <a:schemeClr val="dk1"/>
              </a:solidFill>
              <a:latin typeface="Arial"/>
              <a:ea typeface="Arial"/>
              <a:cs typeface="Arial"/>
              <a:sym typeface="Arial"/>
            </a:endParaRPr>
          </a:p>
          <a:p>
            <a:pPr indent="-374650" lvl="0" marL="457200" marR="0" rtl="0" algn="l">
              <a:lnSpc>
                <a:spcPct val="115000"/>
              </a:lnSpc>
              <a:spcBef>
                <a:spcPts val="0"/>
              </a:spcBef>
              <a:spcAft>
                <a:spcPts val="0"/>
              </a:spcAft>
              <a:buClr>
                <a:schemeClr val="dk1"/>
              </a:buClr>
              <a:buSzPts val="2300"/>
              <a:buFont typeface="Arial"/>
              <a:buChar char="●"/>
            </a:pPr>
            <a:r>
              <a:rPr b="1" i="0" lang="en-US" sz="2300" u="none" cap="none" strike="noStrike">
                <a:solidFill>
                  <a:schemeClr val="dk1"/>
                </a:solidFill>
                <a:latin typeface="Arial"/>
                <a:ea typeface="Arial"/>
                <a:cs typeface="Arial"/>
                <a:sym typeface="Arial"/>
              </a:rPr>
              <a:t>State effect (SA &gt; VIC):</a:t>
            </a:r>
            <a:r>
              <a:rPr b="0" i="0" lang="en-US" sz="2300" u="none" cap="none" strike="noStrike">
                <a:solidFill>
                  <a:schemeClr val="dk1"/>
                </a:solidFill>
                <a:latin typeface="Arial"/>
                <a:ea typeface="Arial"/>
                <a:cs typeface="Arial"/>
                <a:sym typeface="Arial"/>
              </a:rPr>
              <a:t> The consistently higher SA regression line shows that, controlling for time, South Australia has a higher NDIS participation rate than Victoria.</a:t>
            </a:r>
            <a:br>
              <a:rPr b="0" i="0" lang="en-US" sz="2300" u="none" cap="none" strike="noStrike">
                <a:solidFill>
                  <a:schemeClr val="dk1"/>
                </a:solidFill>
                <a:latin typeface="Arial"/>
                <a:ea typeface="Arial"/>
                <a:cs typeface="Arial"/>
                <a:sym typeface="Arial"/>
              </a:rPr>
            </a:br>
            <a:endParaRPr b="0" i="0" sz="2300" u="none" cap="none" strike="noStrike">
              <a:solidFill>
                <a:schemeClr val="dk1"/>
              </a:solidFill>
              <a:latin typeface="Arial"/>
              <a:ea typeface="Arial"/>
              <a:cs typeface="Arial"/>
              <a:sym typeface="Arial"/>
            </a:endParaRPr>
          </a:p>
          <a:p>
            <a:pPr indent="-374650" lvl="0" marL="457200" marR="0" rtl="0" algn="l">
              <a:lnSpc>
                <a:spcPct val="115000"/>
              </a:lnSpc>
              <a:spcBef>
                <a:spcPts val="0"/>
              </a:spcBef>
              <a:spcAft>
                <a:spcPts val="0"/>
              </a:spcAft>
              <a:buClr>
                <a:schemeClr val="dk1"/>
              </a:buClr>
              <a:buSzPts val="2300"/>
              <a:buFont typeface="Arial"/>
              <a:buChar char="●"/>
            </a:pPr>
            <a:r>
              <a:rPr b="1" i="0" lang="en-US" sz="2300" u="none" cap="none" strike="noStrike">
                <a:solidFill>
                  <a:schemeClr val="dk1"/>
                </a:solidFill>
                <a:latin typeface="Arial"/>
                <a:ea typeface="Arial"/>
                <a:cs typeface="Arial"/>
                <a:sym typeface="Arial"/>
              </a:rPr>
              <a:t>Growth differential:</a:t>
            </a:r>
            <a:r>
              <a:rPr b="0" i="0" lang="en-US" sz="2300" u="none" cap="none" strike="noStrike">
                <a:solidFill>
                  <a:schemeClr val="dk1"/>
                </a:solidFill>
                <a:latin typeface="Arial"/>
                <a:ea typeface="Arial"/>
                <a:cs typeface="Arial"/>
                <a:sym typeface="Arial"/>
              </a:rPr>
              <a:t> The steeper slope for SA suggests a faster rate of increase in NDIS coverage relative to Victoria, indicating stronger structural or regional demand drivers.</a:t>
            </a:r>
            <a:endParaRPr b="0" i="0" sz="2300" u="none" cap="none" strike="noStrike">
              <a:solidFill>
                <a:schemeClr val="dk1"/>
              </a:solidFill>
              <a:latin typeface="Arial"/>
              <a:ea typeface="Arial"/>
              <a:cs typeface="Arial"/>
              <a:sym typeface="Arial"/>
            </a:endParaRPr>
          </a:p>
        </p:txBody>
      </p:sp>
      <p:pic>
        <p:nvPicPr>
          <p:cNvPr id="229" name="Google Shape;229;g3b76fa3d5dd_0_497" title="Chart"/>
          <p:cNvPicPr preferRelativeResize="0"/>
          <p:nvPr/>
        </p:nvPicPr>
        <p:blipFill>
          <a:blip r:embed="rId3">
            <a:alphaModFix/>
          </a:blip>
          <a:stretch>
            <a:fillRect/>
          </a:stretch>
        </p:blipFill>
        <p:spPr>
          <a:xfrm>
            <a:off x="152400" y="3429000"/>
            <a:ext cx="9384399" cy="5802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b76fa3d5dd_0_585"/>
          <p:cNvSpPr/>
          <p:nvPr/>
        </p:nvSpPr>
        <p:spPr>
          <a:xfrm>
            <a:off x="0" y="0"/>
            <a:ext cx="18288000" cy="2793900"/>
          </a:xfrm>
          <a:prstGeom prst="rect">
            <a:avLst/>
          </a:prstGeom>
          <a:solidFill>
            <a:srgbClr val="7C987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3b76fa3d5dd_0_585"/>
          <p:cNvSpPr txBox="1"/>
          <p:nvPr/>
        </p:nvSpPr>
        <p:spPr>
          <a:xfrm>
            <a:off x="1028700" y="923925"/>
            <a:ext cx="12567600" cy="923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1" i="0" lang="en-US" sz="6000" u="none" cap="none" strike="noStrike">
                <a:solidFill>
                  <a:schemeClr val="dk1"/>
                </a:solidFill>
                <a:latin typeface="Arial"/>
                <a:ea typeface="Arial"/>
                <a:cs typeface="Arial"/>
                <a:sym typeface="Arial"/>
              </a:rPr>
              <a:t>Regression Analysis</a:t>
            </a:r>
            <a:endParaRPr b="1" i="0" sz="6000" u="none" cap="none" strike="noStrike">
              <a:solidFill>
                <a:schemeClr val="dk1"/>
              </a:solidFill>
              <a:latin typeface="Arial"/>
              <a:ea typeface="Arial"/>
              <a:cs typeface="Arial"/>
              <a:sym typeface="Arial"/>
            </a:endParaRPr>
          </a:p>
        </p:txBody>
      </p:sp>
      <p:sp>
        <p:nvSpPr>
          <p:cNvPr id="236" name="Google Shape;236;g3b76fa3d5dd_0_585"/>
          <p:cNvSpPr txBox="1"/>
          <p:nvPr/>
        </p:nvSpPr>
        <p:spPr>
          <a:xfrm>
            <a:off x="1028700" y="1847325"/>
            <a:ext cx="13910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Calibri"/>
                <a:ea typeface="Calibri"/>
                <a:cs typeface="Calibri"/>
                <a:sym typeface="Calibri"/>
              </a:rPr>
              <a:t>Scenario-based projection derived from regression-informed total growth</a:t>
            </a:r>
            <a:endParaRPr b="0" i="0" sz="3200" u="none" cap="none" strike="noStrike">
              <a:solidFill>
                <a:schemeClr val="dk1"/>
              </a:solidFill>
              <a:latin typeface="Calibri"/>
              <a:ea typeface="Calibri"/>
              <a:cs typeface="Calibri"/>
              <a:sym typeface="Calibri"/>
            </a:endParaRPr>
          </a:p>
        </p:txBody>
      </p:sp>
      <p:sp>
        <p:nvSpPr>
          <p:cNvPr id="237" name="Google Shape;237;g3b76fa3d5dd_0_585"/>
          <p:cNvSpPr txBox="1"/>
          <p:nvPr/>
        </p:nvSpPr>
        <p:spPr>
          <a:xfrm>
            <a:off x="326350" y="8967207"/>
            <a:ext cx="16259700" cy="12621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1"/>
              </a:buClr>
              <a:buSzPts val="1400"/>
              <a:buFont typeface="Calibri"/>
              <a:buChar char="●"/>
            </a:pPr>
            <a:r>
              <a:rPr i="0" lang="en-US" u="none" cap="none" strike="noStrike">
                <a:solidFill>
                  <a:schemeClr val="dk1"/>
                </a:solidFill>
                <a:latin typeface="Calibri"/>
                <a:ea typeface="Calibri"/>
                <a:cs typeface="Calibri"/>
                <a:sym typeface="Calibri"/>
              </a:rPr>
              <a:t>Participant counts are estimated due to NDIA disclosure controls for small cells; results reflect comparative trends and distributions rather than exact reconciled totals.</a:t>
            </a:r>
            <a:endParaRPr i="0" u="none" cap="none" strike="noStrike">
              <a:solidFill>
                <a:schemeClr val="dk1"/>
              </a:solidFill>
              <a:latin typeface="Calibri"/>
              <a:ea typeface="Calibri"/>
              <a:cs typeface="Calibri"/>
              <a:sym typeface="Calibri"/>
            </a:endParaRPr>
          </a:p>
          <a:p>
            <a:pPr indent="-317500" lvl="0" marL="457200" marR="0" rtl="0" algn="l">
              <a:lnSpc>
                <a:spcPct val="100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Because regional population data were unavailable, regional NDIS growth was projected by applying the observed 2025 regional share to total SA NDIS projections, allowing examination of future service demand while maintaining equity and avoiding location-based prioritisation bias.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US">
                <a:solidFill>
                  <a:schemeClr val="dk1"/>
                </a:solidFill>
              </a:rPr>
              <a:t>Projection: The regression equation </a:t>
            </a:r>
            <a:r>
              <a:rPr i="1" lang="en-US">
                <a:solidFill>
                  <a:schemeClr val="dk1"/>
                </a:solidFill>
              </a:rPr>
              <a:t>(Projected Total = Intercept + Slope × YearIndex)</a:t>
            </a:r>
            <a:r>
              <a:rPr lang="en-US">
                <a:solidFill>
                  <a:schemeClr val="dk1"/>
                </a:solidFill>
              </a:rPr>
              <a:t> was used to estimate total SA NDIS participants for 2026–2030.</a:t>
            </a:r>
            <a:endParaRPr>
              <a:solidFill>
                <a:schemeClr val="dk1"/>
              </a:solidFill>
            </a:endParaRPr>
          </a:p>
          <a:p>
            <a:pPr indent="-317500" lvl="0" marL="457200" rtl="0" algn="l">
              <a:spcBef>
                <a:spcPts val="0"/>
              </a:spcBef>
              <a:spcAft>
                <a:spcPts val="0"/>
              </a:spcAft>
              <a:buClr>
                <a:schemeClr val="dk1"/>
              </a:buClr>
              <a:buSzPts val="1400"/>
              <a:buFont typeface="Calibri"/>
              <a:buChar char="●"/>
            </a:pPr>
            <a:r>
              <a:rPr lang="en-US">
                <a:solidFill>
                  <a:schemeClr val="dk1"/>
                </a:solidFill>
              </a:rPr>
              <a:t>Regional estimate: Projected regional SA participants were derived by applying the fixed 2025 regional share to each projected SA total.</a:t>
            </a:r>
            <a:endParaRPr>
              <a:solidFill>
                <a:schemeClr val="dk1"/>
              </a:solidFill>
              <a:latin typeface="Calibri"/>
              <a:ea typeface="Calibri"/>
              <a:cs typeface="Calibri"/>
              <a:sym typeface="Calibri"/>
            </a:endParaRPr>
          </a:p>
        </p:txBody>
      </p:sp>
      <p:pic>
        <p:nvPicPr>
          <p:cNvPr id="238" name="Google Shape;238;g3b76fa3d5dd_0_585" title="Chart"/>
          <p:cNvPicPr preferRelativeResize="0"/>
          <p:nvPr/>
        </p:nvPicPr>
        <p:blipFill>
          <a:blip r:embed="rId3">
            <a:alphaModFix/>
          </a:blip>
          <a:stretch>
            <a:fillRect/>
          </a:stretch>
        </p:blipFill>
        <p:spPr>
          <a:xfrm>
            <a:off x="523100" y="3230213"/>
            <a:ext cx="8572500" cy="5300663"/>
          </a:xfrm>
          <a:prstGeom prst="rect">
            <a:avLst/>
          </a:prstGeom>
          <a:noFill/>
          <a:ln>
            <a:noFill/>
          </a:ln>
        </p:spPr>
      </p:pic>
      <p:sp>
        <p:nvSpPr>
          <p:cNvPr id="239" name="Google Shape;239;g3b76fa3d5dd_0_585"/>
          <p:cNvSpPr txBox="1"/>
          <p:nvPr/>
        </p:nvSpPr>
        <p:spPr>
          <a:xfrm>
            <a:off x="9971900" y="3887200"/>
            <a:ext cx="8229600" cy="398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900">
                <a:solidFill>
                  <a:schemeClr val="dk1"/>
                </a:solidFill>
              </a:rPr>
              <a:t>Demand signal:</a:t>
            </a:r>
            <a:r>
              <a:rPr lang="en-US" sz="1900">
                <a:solidFill>
                  <a:schemeClr val="dk1"/>
                </a:solidFill>
              </a:rPr>
              <a:t> The upward trajectory indicates sustained growth in regional SA NDIS participants, implying increasing pressure on local service capacity.</a:t>
            </a:r>
            <a:br>
              <a:rPr lang="en-US" sz="1900">
                <a:solidFill>
                  <a:schemeClr val="dk1"/>
                </a:solidFill>
              </a:rPr>
            </a:br>
            <a:endParaRPr sz="1900">
              <a:solidFill>
                <a:schemeClr val="dk1"/>
              </a:solidFill>
            </a:endParaRPr>
          </a:p>
          <a:p>
            <a:pPr indent="0" lvl="0" marL="0" rtl="0" algn="l">
              <a:spcBef>
                <a:spcPts val="0"/>
              </a:spcBef>
              <a:spcAft>
                <a:spcPts val="0"/>
              </a:spcAft>
              <a:buClr>
                <a:schemeClr val="dk1"/>
              </a:buClr>
              <a:buSzPts val="1100"/>
              <a:buFont typeface="Arial"/>
              <a:buNone/>
            </a:pPr>
            <a:r>
              <a:rPr b="1" lang="en-US" sz="1900">
                <a:solidFill>
                  <a:schemeClr val="dk1"/>
                </a:solidFill>
              </a:rPr>
              <a:t>Service planning:</a:t>
            </a:r>
            <a:r>
              <a:rPr lang="en-US" sz="1900">
                <a:solidFill>
                  <a:schemeClr val="dk1"/>
                </a:solidFill>
              </a:rPr>
              <a:t> Providers must scale workforce, travel coverage, and service mix ahead of demand to avoid access delays in regional areas.</a:t>
            </a:r>
            <a:br>
              <a:rPr lang="en-US" sz="1900">
                <a:solidFill>
                  <a:schemeClr val="dk1"/>
                </a:solidFill>
              </a:rPr>
            </a:br>
            <a:endParaRPr sz="1900">
              <a:solidFill>
                <a:schemeClr val="dk1"/>
              </a:solidFill>
            </a:endParaRPr>
          </a:p>
          <a:p>
            <a:pPr indent="0" lvl="0" marL="0" rtl="0" algn="l">
              <a:spcBef>
                <a:spcPts val="0"/>
              </a:spcBef>
              <a:spcAft>
                <a:spcPts val="0"/>
              </a:spcAft>
              <a:buClr>
                <a:schemeClr val="dk1"/>
              </a:buClr>
              <a:buSzPts val="1100"/>
              <a:buFont typeface="Arial"/>
              <a:buNone/>
            </a:pPr>
            <a:r>
              <a:rPr b="1" lang="en-US" sz="1900">
                <a:solidFill>
                  <a:schemeClr val="dk1"/>
                </a:solidFill>
              </a:rPr>
              <a:t>Participant impact:</a:t>
            </a:r>
            <a:r>
              <a:rPr lang="en-US" sz="1900">
                <a:solidFill>
                  <a:schemeClr val="dk1"/>
                </a:solidFill>
              </a:rPr>
              <a:t> Without proactive expansion, growing participant numbers risk longer wait times and reduced service continuity.</a:t>
            </a:r>
            <a:br>
              <a:rPr lang="en-US" sz="1900">
                <a:solidFill>
                  <a:schemeClr val="dk1"/>
                </a:solidFill>
              </a:rPr>
            </a:br>
            <a:endParaRPr sz="1900">
              <a:solidFill>
                <a:schemeClr val="dk1"/>
              </a:solidFill>
            </a:endParaRPr>
          </a:p>
          <a:p>
            <a:pPr indent="0" lvl="0" marL="0" rtl="0" algn="l">
              <a:spcBef>
                <a:spcPts val="0"/>
              </a:spcBef>
              <a:spcAft>
                <a:spcPts val="0"/>
              </a:spcAft>
              <a:buClr>
                <a:schemeClr val="dk1"/>
              </a:buClr>
              <a:buSzPts val="1100"/>
              <a:buFont typeface="Arial"/>
              <a:buNone/>
            </a:pPr>
            <a:r>
              <a:rPr b="1" lang="en-US" sz="1900">
                <a:solidFill>
                  <a:schemeClr val="dk1"/>
                </a:solidFill>
              </a:rPr>
              <a:t>Policy relevance:</a:t>
            </a:r>
            <a:r>
              <a:rPr lang="en-US" sz="1900">
                <a:solidFill>
                  <a:schemeClr val="dk1"/>
                </a:solidFill>
              </a:rPr>
              <a:t> The projection supports early infrastructure and funding planning to maintain equitable access as demand rises.</a:t>
            </a:r>
            <a:endParaRPr sz="1900">
              <a:solidFill>
                <a:schemeClr val="dk1"/>
              </a:solidFill>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C987C"/>
        </a:solidFill>
      </p:bgPr>
    </p:bg>
    <p:spTree>
      <p:nvGrpSpPr>
        <p:cNvPr id="243" name="Shape 243"/>
        <p:cNvGrpSpPr/>
        <p:nvPr/>
      </p:nvGrpSpPr>
      <p:grpSpPr>
        <a:xfrm>
          <a:off x="0" y="0"/>
          <a:ext cx="0" cy="0"/>
          <a:chOff x="0" y="0"/>
          <a:chExt cx="0" cy="0"/>
        </a:xfrm>
      </p:grpSpPr>
      <p:graphicFrame>
        <p:nvGraphicFramePr>
          <p:cNvPr id="244" name="Google Shape;244;p8"/>
          <p:cNvGraphicFramePr/>
          <p:nvPr/>
        </p:nvGraphicFramePr>
        <p:xfrm>
          <a:off x="1028700" y="1737275"/>
          <a:ext cx="3000000" cy="3000000"/>
        </p:xfrm>
        <a:graphic>
          <a:graphicData uri="http://schemas.openxmlformats.org/drawingml/2006/table">
            <a:tbl>
              <a:tblPr>
                <a:noFill/>
                <a:tableStyleId>{3D3182D0-8AAF-4D1C-B93B-24CD85127A34}</a:tableStyleId>
              </a:tblPr>
              <a:tblGrid>
                <a:gridCol w="7955350"/>
                <a:gridCol w="7955350"/>
              </a:tblGrid>
              <a:tr h="1380475">
                <a:tc>
                  <a:txBody>
                    <a:bodyPr/>
                    <a:lstStyle/>
                    <a:p>
                      <a:pPr indent="0" lvl="0" marL="0" rtl="0" algn="ctr">
                        <a:lnSpc>
                          <a:spcPct val="115000"/>
                        </a:lnSpc>
                        <a:spcBef>
                          <a:spcPts val="0"/>
                        </a:spcBef>
                        <a:spcAft>
                          <a:spcPts val="0"/>
                        </a:spcAft>
                        <a:buClr>
                          <a:schemeClr val="dk1"/>
                        </a:buClr>
                        <a:buSzPts val="1100"/>
                        <a:buFont typeface="Arial"/>
                        <a:buNone/>
                      </a:pPr>
                      <a:r>
                        <a:rPr b="1" lang="en-US" sz="2900">
                          <a:solidFill>
                            <a:schemeClr val="lt1"/>
                          </a:solidFill>
                        </a:rPr>
                        <a:t>What the analysis reliably shows</a:t>
                      </a:r>
                      <a:endParaRPr b="1" sz="2900">
                        <a:solidFill>
                          <a:schemeClr val="lt1"/>
                        </a:solidFill>
                      </a:endParaRPr>
                    </a:p>
                  </a:txBody>
                  <a:tcPr marT="190500" marB="190500" marR="190500" marL="190500" anchor="ctr">
                    <a:lnL cap="flat" cmpd="sng" w="28575">
                      <a:solidFill>
                        <a:srgbClr val="7C987C"/>
                      </a:solidFill>
                      <a:prstDash val="solid"/>
                      <a:round/>
                      <a:headEnd len="sm" w="sm" type="none"/>
                      <a:tailEnd len="sm" w="sm" type="none"/>
                    </a:lnL>
                    <a:lnR cap="flat" cmpd="sng" w="28575">
                      <a:solidFill>
                        <a:srgbClr val="7C987C"/>
                      </a:solidFill>
                      <a:prstDash val="solid"/>
                      <a:round/>
                      <a:headEnd len="sm" w="sm" type="none"/>
                      <a:tailEnd len="sm" w="sm" type="none"/>
                    </a:lnR>
                    <a:lnT cap="flat" cmpd="sng" w="28575">
                      <a:solidFill>
                        <a:srgbClr val="7C987C"/>
                      </a:solidFill>
                      <a:prstDash val="solid"/>
                      <a:round/>
                      <a:headEnd len="sm" w="sm" type="none"/>
                      <a:tailEnd len="sm" w="sm" type="none"/>
                    </a:lnT>
                    <a:lnB cap="flat" cmpd="sng" w="28575">
                      <a:solidFill>
                        <a:srgbClr val="7C987C"/>
                      </a:solidFill>
                      <a:prstDash val="solid"/>
                      <a:round/>
                      <a:headEnd len="sm" w="sm" type="none"/>
                      <a:tailEnd len="sm" w="sm" type="none"/>
                    </a:lnB>
                    <a:solidFill>
                      <a:srgbClr val="365236"/>
                    </a:solidFill>
                  </a:tcPr>
                </a:tc>
                <a:tc>
                  <a:txBody>
                    <a:bodyPr/>
                    <a:lstStyle/>
                    <a:p>
                      <a:pPr indent="0" lvl="0" marL="0" marR="0" rtl="0" algn="ctr">
                        <a:lnSpc>
                          <a:spcPct val="140000"/>
                        </a:lnSpc>
                        <a:spcBef>
                          <a:spcPts val="0"/>
                        </a:spcBef>
                        <a:spcAft>
                          <a:spcPts val="0"/>
                        </a:spcAft>
                        <a:buClr>
                          <a:srgbClr val="000000"/>
                        </a:buClr>
                        <a:buSzPts val="2900"/>
                        <a:buFont typeface="Arial"/>
                        <a:buNone/>
                      </a:pPr>
                      <a:r>
                        <a:rPr b="1" lang="en-US" sz="2900">
                          <a:solidFill>
                            <a:schemeClr val="lt1"/>
                          </a:solidFill>
                        </a:rPr>
                        <a:t>How the analysis could be strengthened</a:t>
                      </a:r>
                      <a:endParaRPr b="1" sz="2900" u="none" cap="none" strike="noStrike">
                        <a:solidFill>
                          <a:schemeClr val="lt1"/>
                        </a:solidFill>
                      </a:endParaRPr>
                    </a:p>
                  </a:txBody>
                  <a:tcPr marT="190500" marB="190500" marR="190500" marL="190500" anchor="ctr">
                    <a:lnL cap="flat" cmpd="sng" w="28575">
                      <a:solidFill>
                        <a:srgbClr val="7C987C"/>
                      </a:solidFill>
                      <a:prstDash val="solid"/>
                      <a:round/>
                      <a:headEnd len="sm" w="sm" type="none"/>
                      <a:tailEnd len="sm" w="sm" type="none"/>
                    </a:lnL>
                    <a:lnR cap="flat" cmpd="sng" w="28575">
                      <a:solidFill>
                        <a:srgbClr val="7C987C"/>
                      </a:solidFill>
                      <a:prstDash val="solid"/>
                      <a:round/>
                      <a:headEnd len="sm" w="sm" type="none"/>
                      <a:tailEnd len="sm" w="sm" type="none"/>
                    </a:lnR>
                    <a:lnT cap="flat" cmpd="sng" w="28575">
                      <a:solidFill>
                        <a:srgbClr val="7C987C"/>
                      </a:solidFill>
                      <a:prstDash val="solid"/>
                      <a:round/>
                      <a:headEnd len="sm" w="sm" type="none"/>
                      <a:tailEnd len="sm" w="sm" type="none"/>
                    </a:lnT>
                    <a:lnB cap="flat" cmpd="sng" w="28575">
                      <a:solidFill>
                        <a:srgbClr val="7C987C"/>
                      </a:solidFill>
                      <a:prstDash val="solid"/>
                      <a:round/>
                      <a:headEnd len="sm" w="sm" type="none"/>
                      <a:tailEnd len="sm" w="sm" type="none"/>
                    </a:lnB>
                    <a:solidFill>
                      <a:srgbClr val="365236"/>
                    </a:solidFill>
                  </a:tcPr>
                </a:tc>
              </a:tr>
              <a:tr h="2149225">
                <a:tc>
                  <a:txBody>
                    <a:bodyPr/>
                    <a:lstStyle/>
                    <a:p>
                      <a:pPr indent="-342900" lvl="0" marL="457200" rtl="0" algn="l">
                        <a:lnSpc>
                          <a:spcPct val="140000"/>
                        </a:lnSpc>
                        <a:spcBef>
                          <a:spcPts val="0"/>
                        </a:spcBef>
                        <a:spcAft>
                          <a:spcPts val="0"/>
                        </a:spcAft>
                        <a:buClr>
                          <a:schemeClr val="dk1"/>
                        </a:buClr>
                        <a:buSzPts val="1800"/>
                        <a:buChar char="●"/>
                      </a:pPr>
                      <a:r>
                        <a:rPr b="1" lang="en-US" sz="1800">
                          <a:solidFill>
                            <a:schemeClr val="dk1"/>
                          </a:solidFill>
                        </a:rPr>
                        <a:t>Internal coherence:</a:t>
                      </a:r>
                      <a:r>
                        <a:rPr lang="en-US" sz="1800">
                          <a:solidFill>
                            <a:schemeClr val="dk1"/>
                          </a:solidFill>
                        </a:rPr>
                        <a:t> Aggregated metro and regional participant estimates reconcile closely with published state-level totals after midpoint treatment of masked values, supporting consistency of the cleaned dataset.</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b="1" lang="en-US" sz="1800">
                          <a:solidFill>
                            <a:schemeClr val="dk1"/>
                          </a:solidFill>
                        </a:rPr>
                        <a:t>Structural validity:</a:t>
                      </a:r>
                      <a:r>
                        <a:rPr lang="en-US" sz="1800">
                          <a:solidFill>
                            <a:schemeClr val="dk1"/>
                          </a:solidFill>
                        </a:rPr>
                        <a:t> Regional areas exhibit lower participant density and greater geographic dispersion, aligning with known NDIS thin-market characteristics.</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b="1" lang="en-US" sz="1800">
                          <a:solidFill>
                            <a:schemeClr val="dk1"/>
                          </a:solidFill>
                        </a:rPr>
                        <a:t>Trend credibility:</a:t>
                      </a:r>
                      <a:r>
                        <a:rPr lang="en-US" sz="1800">
                          <a:solidFill>
                            <a:schemeClr val="dk1"/>
                          </a:solidFill>
                        </a:rPr>
                        <a:t> Observed and projected growth patterns are consistent with documented NDIS expansion between 2020–2025, indicating plausible forward trajectories.</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b="1" lang="en-US" sz="1800">
                          <a:solidFill>
                            <a:schemeClr val="dk1"/>
                          </a:solidFill>
                        </a:rPr>
                        <a:t>Business relevance:</a:t>
                      </a:r>
                      <a:r>
                        <a:rPr lang="en-US" sz="1800">
                          <a:solidFill>
                            <a:schemeClr val="dk1"/>
                          </a:solidFill>
                        </a:rPr>
                        <a:t> Results directly address the service-planning problem by identifying where sustained regional demand may strain provider availability.</a:t>
                      </a:r>
                      <a:endParaRPr sz="1800">
                        <a:solidFill>
                          <a:schemeClr val="dk1"/>
                        </a:solidFill>
                      </a:endParaRPr>
                    </a:p>
                    <a:p>
                      <a:pPr indent="0" lvl="0" marL="0" marR="0" rtl="0" algn="l">
                        <a:lnSpc>
                          <a:spcPct val="140000"/>
                        </a:lnSpc>
                        <a:spcBef>
                          <a:spcPts val="0"/>
                        </a:spcBef>
                        <a:spcAft>
                          <a:spcPts val="0"/>
                        </a:spcAft>
                        <a:buClr>
                          <a:srgbClr val="000000"/>
                        </a:buClr>
                        <a:buSzPts val="2000"/>
                        <a:buFont typeface="Arial"/>
                        <a:buNone/>
                      </a:pPr>
                      <a:r>
                        <a:t/>
                      </a:r>
                      <a:endParaRPr sz="2000"/>
                    </a:p>
                  </a:txBody>
                  <a:tcPr marT="190500" marB="190500" marR="190500" marL="190500">
                    <a:lnL cap="flat" cmpd="sng" w="28575">
                      <a:solidFill>
                        <a:srgbClr val="7C987C"/>
                      </a:solidFill>
                      <a:prstDash val="solid"/>
                      <a:round/>
                      <a:headEnd len="sm" w="sm" type="none"/>
                      <a:tailEnd len="sm" w="sm" type="none"/>
                    </a:lnL>
                    <a:lnR cap="flat" cmpd="sng" w="28575">
                      <a:solidFill>
                        <a:srgbClr val="7C987C"/>
                      </a:solidFill>
                      <a:prstDash val="solid"/>
                      <a:round/>
                      <a:headEnd len="sm" w="sm" type="none"/>
                      <a:tailEnd len="sm" w="sm" type="none"/>
                    </a:lnR>
                    <a:lnT cap="flat" cmpd="sng" w="28575">
                      <a:solidFill>
                        <a:srgbClr val="7C987C"/>
                      </a:solidFill>
                      <a:prstDash val="solid"/>
                      <a:round/>
                      <a:headEnd len="sm" w="sm" type="none"/>
                      <a:tailEnd len="sm" w="sm" type="none"/>
                    </a:lnT>
                    <a:lnB cap="flat" cmpd="sng" w="28575">
                      <a:solidFill>
                        <a:srgbClr val="7C987C"/>
                      </a:solidFill>
                      <a:prstDash val="solid"/>
                      <a:round/>
                      <a:headEnd len="sm" w="sm" type="none"/>
                      <a:tailEnd len="sm" w="sm" type="none"/>
                    </a:lnB>
                    <a:solidFill>
                      <a:srgbClr val="FFFFFF"/>
                    </a:solidFill>
                  </a:tcPr>
                </a:tc>
                <a:tc>
                  <a:txBody>
                    <a:bodyPr/>
                    <a:lstStyle/>
                    <a:p>
                      <a:pPr indent="-342900" lvl="0" marL="457200" rtl="0" algn="l">
                        <a:lnSpc>
                          <a:spcPct val="140000"/>
                        </a:lnSpc>
                        <a:spcBef>
                          <a:spcPts val="0"/>
                        </a:spcBef>
                        <a:spcAft>
                          <a:spcPts val="0"/>
                        </a:spcAft>
                        <a:buSzPts val="1800"/>
                        <a:buChar char="●"/>
                      </a:pPr>
                      <a:r>
                        <a:rPr b="1" lang="en-US" sz="1800">
                          <a:solidFill>
                            <a:schemeClr val="dk1"/>
                          </a:solidFill>
                        </a:rPr>
                        <a:t>Richer time series:</a:t>
                      </a:r>
                      <a:r>
                        <a:rPr lang="en-US" sz="1800">
                          <a:solidFill>
                            <a:schemeClr val="dk1"/>
                          </a:solidFill>
                        </a:rPr>
                        <a:t> Incorporate quarterly NDIA participant data to enable more robust forecasting (e.g., ETS or ARIMA models).</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SzPts val="1800"/>
                        <a:buChar char="●"/>
                      </a:pPr>
                      <a:r>
                        <a:rPr b="1" lang="en-US" sz="1800">
                          <a:solidFill>
                            <a:schemeClr val="dk1"/>
                          </a:solidFill>
                        </a:rPr>
                        <a:t>Population context:</a:t>
                      </a:r>
                      <a:r>
                        <a:rPr lang="en-US" sz="1800">
                          <a:solidFill>
                            <a:schemeClr val="dk1"/>
                          </a:solidFill>
                        </a:rPr>
                        <a:t> Integrate ABS regional population and socioeconomic data to support per-capita and equity-based comparisons.</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SzPts val="1800"/>
                        <a:buChar char="●"/>
                      </a:pPr>
                      <a:r>
                        <a:rPr b="1" lang="en-US" sz="1800">
                          <a:solidFill>
                            <a:schemeClr val="dk1"/>
                          </a:solidFill>
                        </a:rPr>
                        <a:t>Service utilisation:</a:t>
                      </a:r>
                      <a:r>
                        <a:rPr lang="en-US" sz="1800">
                          <a:solidFill>
                            <a:schemeClr val="dk1"/>
                          </a:solidFill>
                        </a:rPr>
                        <a:t> Add payments-versus-budget data to assess under-utilisation and unmet service demand.</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SzPts val="1800"/>
                        <a:buChar char="●"/>
                      </a:pPr>
                      <a:r>
                        <a:rPr b="1" lang="en-US" sz="1800">
                          <a:solidFill>
                            <a:schemeClr val="dk1"/>
                          </a:solidFill>
                        </a:rPr>
                        <a:t>Finer geography:</a:t>
                      </a:r>
                      <a:r>
                        <a:rPr lang="en-US" sz="1800">
                          <a:solidFill>
                            <a:schemeClr val="dk1"/>
                          </a:solidFill>
                        </a:rPr>
                        <a:t> Use SA3/SA4-level breakdowns where available to reduce aggregation bias and better reflect thin-market realities.</a:t>
                      </a:r>
                      <a:endParaRPr sz="1800"/>
                    </a:p>
                  </a:txBody>
                  <a:tcPr marT="190500" marB="190500" marR="190500" marL="190500">
                    <a:lnL cap="flat" cmpd="sng" w="28575">
                      <a:solidFill>
                        <a:srgbClr val="7C987C"/>
                      </a:solidFill>
                      <a:prstDash val="solid"/>
                      <a:round/>
                      <a:headEnd len="sm" w="sm" type="none"/>
                      <a:tailEnd len="sm" w="sm" type="none"/>
                    </a:lnL>
                    <a:lnR cap="flat" cmpd="sng" w="28575">
                      <a:solidFill>
                        <a:srgbClr val="7C987C"/>
                      </a:solidFill>
                      <a:prstDash val="solid"/>
                      <a:round/>
                      <a:headEnd len="sm" w="sm" type="none"/>
                      <a:tailEnd len="sm" w="sm" type="none"/>
                    </a:lnR>
                    <a:lnT cap="flat" cmpd="sng" w="28575">
                      <a:solidFill>
                        <a:srgbClr val="7C987C"/>
                      </a:solidFill>
                      <a:prstDash val="solid"/>
                      <a:round/>
                      <a:headEnd len="sm" w="sm" type="none"/>
                      <a:tailEnd len="sm" w="sm" type="none"/>
                    </a:lnT>
                    <a:lnB cap="flat" cmpd="sng" w="28575">
                      <a:solidFill>
                        <a:srgbClr val="7C987C"/>
                      </a:solidFill>
                      <a:prstDash val="solid"/>
                      <a:round/>
                      <a:headEnd len="sm" w="sm" type="none"/>
                      <a:tailEnd len="sm" w="sm" type="none"/>
                    </a:lnB>
                    <a:solidFill>
                      <a:srgbClr val="FFFFFF"/>
                    </a:solidFill>
                  </a:tcPr>
                </a:tc>
              </a:tr>
            </a:tbl>
          </a:graphicData>
        </a:graphic>
      </p:graphicFrame>
      <p:sp>
        <p:nvSpPr>
          <p:cNvPr id="245" name="Google Shape;245;p8"/>
          <p:cNvSpPr txBox="1"/>
          <p:nvPr/>
        </p:nvSpPr>
        <p:spPr>
          <a:xfrm>
            <a:off x="930600" y="45019"/>
            <a:ext cx="9745500" cy="96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100"/>
              <a:buFont typeface="Arial"/>
              <a:buNone/>
            </a:pPr>
            <a:r>
              <a:rPr b="1" i="0" lang="en-US" sz="5100" u="none" cap="none" strike="noStrike">
                <a:solidFill>
                  <a:schemeClr val="dk1"/>
                </a:solidFill>
                <a:latin typeface="Arial"/>
                <a:ea typeface="Arial"/>
                <a:cs typeface="Arial"/>
                <a:sym typeface="Arial"/>
              </a:rPr>
              <a:t>Evaluation of Results</a:t>
            </a:r>
            <a:endParaRPr b="1" i="0" sz="5100" u="none" cap="none" strike="noStrike">
              <a:solidFill>
                <a:schemeClr val="dk1"/>
              </a:solidFill>
              <a:latin typeface="Arial"/>
              <a:ea typeface="Arial"/>
              <a:cs typeface="Arial"/>
              <a:sym typeface="Arial"/>
            </a:endParaRPr>
          </a:p>
        </p:txBody>
      </p:sp>
      <p:sp>
        <p:nvSpPr>
          <p:cNvPr id="246" name="Google Shape;246;p8"/>
          <p:cNvSpPr txBox="1"/>
          <p:nvPr/>
        </p:nvSpPr>
        <p:spPr>
          <a:xfrm>
            <a:off x="994845" y="845975"/>
            <a:ext cx="11238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lang="en-US" sz="2300">
                <a:solidFill>
                  <a:schemeClr val="lt1"/>
                </a:solidFill>
              </a:rPr>
              <a:t>Accuracy, relevance to business problem, and improvement pathway</a:t>
            </a:r>
            <a:endParaRPr b="1" i="0" sz="23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C987C"/>
        </a:solidFill>
      </p:bgPr>
    </p:bg>
    <p:spTree>
      <p:nvGrpSpPr>
        <p:cNvPr id="250" name="Shape 250"/>
        <p:cNvGrpSpPr/>
        <p:nvPr/>
      </p:nvGrpSpPr>
      <p:grpSpPr>
        <a:xfrm>
          <a:off x="0" y="0"/>
          <a:ext cx="0" cy="0"/>
          <a:chOff x="0" y="0"/>
          <a:chExt cx="0" cy="0"/>
        </a:xfrm>
      </p:grpSpPr>
      <p:graphicFrame>
        <p:nvGraphicFramePr>
          <p:cNvPr id="251" name="Google Shape;251;g3b76fa3d5dd_0_521"/>
          <p:cNvGraphicFramePr/>
          <p:nvPr/>
        </p:nvGraphicFramePr>
        <p:xfrm>
          <a:off x="1028700" y="1941161"/>
          <a:ext cx="3000000" cy="3000000"/>
        </p:xfrm>
        <a:graphic>
          <a:graphicData uri="http://schemas.openxmlformats.org/drawingml/2006/table">
            <a:tbl>
              <a:tblPr>
                <a:noFill/>
                <a:tableStyleId>{3D3182D0-8AAF-4D1C-B93B-24CD85127A34}</a:tableStyleId>
              </a:tblPr>
              <a:tblGrid>
                <a:gridCol w="7955350"/>
                <a:gridCol w="7955350"/>
              </a:tblGrid>
              <a:tr h="1380475">
                <a:tc>
                  <a:txBody>
                    <a:bodyPr/>
                    <a:lstStyle/>
                    <a:p>
                      <a:pPr indent="0" lvl="0" marL="0" marR="0" rtl="0" algn="ctr">
                        <a:lnSpc>
                          <a:spcPct val="115000"/>
                        </a:lnSpc>
                        <a:spcBef>
                          <a:spcPts val="0"/>
                        </a:spcBef>
                        <a:spcAft>
                          <a:spcPts val="0"/>
                        </a:spcAft>
                        <a:buClr>
                          <a:srgbClr val="000000"/>
                        </a:buClr>
                        <a:buSzPts val="1100"/>
                        <a:buFont typeface="Arial"/>
                        <a:buNone/>
                      </a:pPr>
                      <a:r>
                        <a:rPr b="1" lang="en-US" sz="2900" u="none" cap="none" strike="noStrike">
                          <a:solidFill>
                            <a:schemeClr val="lt1"/>
                          </a:solidFill>
                        </a:rPr>
                        <a:t>Business Significance</a:t>
                      </a:r>
                      <a:endParaRPr b="1" sz="2900" u="none" cap="none" strike="noStrike">
                        <a:solidFill>
                          <a:schemeClr val="lt1"/>
                        </a:solidFill>
                      </a:endParaRPr>
                    </a:p>
                  </a:txBody>
                  <a:tcPr marT="190500" marB="190500" marR="190500" marL="190500" anchor="ctr">
                    <a:lnL cap="flat" cmpd="sng" w="28575">
                      <a:solidFill>
                        <a:srgbClr val="7C987C"/>
                      </a:solidFill>
                      <a:prstDash val="solid"/>
                      <a:round/>
                      <a:headEnd len="sm" w="sm" type="none"/>
                      <a:tailEnd len="sm" w="sm" type="none"/>
                    </a:lnL>
                    <a:lnR cap="flat" cmpd="sng" w="28575">
                      <a:solidFill>
                        <a:srgbClr val="7C987C"/>
                      </a:solidFill>
                      <a:prstDash val="solid"/>
                      <a:round/>
                      <a:headEnd len="sm" w="sm" type="none"/>
                      <a:tailEnd len="sm" w="sm" type="none"/>
                    </a:lnR>
                    <a:lnT cap="flat" cmpd="sng" w="28575">
                      <a:solidFill>
                        <a:srgbClr val="7C987C"/>
                      </a:solidFill>
                      <a:prstDash val="solid"/>
                      <a:round/>
                      <a:headEnd len="sm" w="sm" type="none"/>
                      <a:tailEnd len="sm" w="sm" type="none"/>
                    </a:lnT>
                    <a:lnB cap="flat" cmpd="sng" w="28575">
                      <a:solidFill>
                        <a:srgbClr val="7C987C"/>
                      </a:solidFill>
                      <a:prstDash val="solid"/>
                      <a:round/>
                      <a:headEnd len="sm" w="sm" type="none"/>
                      <a:tailEnd len="sm" w="sm" type="none"/>
                    </a:lnB>
                    <a:solidFill>
                      <a:srgbClr val="365236"/>
                    </a:solidFill>
                  </a:tcPr>
                </a:tc>
                <a:tc>
                  <a:txBody>
                    <a:bodyPr/>
                    <a:lstStyle/>
                    <a:p>
                      <a:pPr indent="0" lvl="0" marL="0" marR="0" rtl="0" algn="ctr">
                        <a:lnSpc>
                          <a:spcPct val="140000"/>
                        </a:lnSpc>
                        <a:spcBef>
                          <a:spcPts val="0"/>
                        </a:spcBef>
                        <a:spcAft>
                          <a:spcPts val="0"/>
                        </a:spcAft>
                        <a:buClr>
                          <a:srgbClr val="000000"/>
                        </a:buClr>
                        <a:buSzPts val="2900"/>
                        <a:buFont typeface="Arial"/>
                        <a:buNone/>
                      </a:pPr>
                      <a:r>
                        <a:rPr b="1" lang="en-US" sz="2900">
                          <a:solidFill>
                            <a:schemeClr val="lt1"/>
                          </a:solidFill>
                        </a:rPr>
                        <a:t>Key limitations (current scope)</a:t>
                      </a:r>
                      <a:endParaRPr b="1" sz="2900" u="none" cap="none" strike="noStrike">
                        <a:solidFill>
                          <a:schemeClr val="lt1"/>
                        </a:solidFill>
                      </a:endParaRPr>
                    </a:p>
                  </a:txBody>
                  <a:tcPr marT="190500" marB="190500" marR="190500" marL="190500" anchor="ctr">
                    <a:lnL cap="flat" cmpd="sng" w="28575">
                      <a:solidFill>
                        <a:srgbClr val="7C987C"/>
                      </a:solidFill>
                      <a:prstDash val="solid"/>
                      <a:round/>
                      <a:headEnd len="sm" w="sm" type="none"/>
                      <a:tailEnd len="sm" w="sm" type="none"/>
                    </a:lnL>
                    <a:lnR cap="flat" cmpd="sng" w="28575">
                      <a:solidFill>
                        <a:srgbClr val="7C987C"/>
                      </a:solidFill>
                      <a:prstDash val="solid"/>
                      <a:round/>
                      <a:headEnd len="sm" w="sm" type="none"/>
                      <a:tailEnd len="sm" w="sm" type="none"/>
                    </a:lnR>
                    <a:lnT cap="flat" cmpd="sng" w="28575">
                      <a:solidFill>
                        <a:srgbClr val="7C987C"/>
                      </a:solidFill>
                      <a:prstDash val="solid"/>
                      <a:round/>
                      <a:headEnd len="sm" w="sm" type="none"/>
                      <a:tailEnd len="sm" w="sm" type="none"/>
                    </a:lnT>
                    <a:lnB cap="flat" cmpd="sng" w="28575">
                      <a:solidFill>
                        <a:srgbClr val="7C987C"/>
                      </a:solidFill>
                      <a:prstDash val="solid"/>
                      <a:round/>
                      <a:headEnd len="sm" w="sm" type="none"/>
                      <a:tailEnd len="sm" w="sm" type="none"/>
                    </a:lnB>
                    <a:solidFill>
                      <a:srgbClr val="365236"/>
                    </a:solidFill>
                  </a:tcPr>
                </a:tc>
              </a:tr>
              <a:tr h="2149225">
                <a:tc>
                  <a:txBody>
                    <a:bodyPr/>
                    <a:lstStyle/>
                    <a:p>
                      <a:pPr indent="-342900" lvl="0" marL="457200" rtl="0" algn="l">
                        <a:lnSpc>
                          <a:spcPct val="140000"/>
                        </a:lnSpc>
                        <a:spcBef>
                          <a:spcPts val="0"/>
                        </a:spcBef>
                        <a:spcAft>
                          <a:spcPts val="0"/>
                        </a:spcAft>
                        <a:buClr>
                          <a:schemeClr val="dk1"/>
                        </a:buClr>
                        <a:buSzPts val="1800"/>
                        <a:buChar char="●"/>
                      </a:pPr>
                      <a:r>
                        <a:rPr lang="en-US" sz="1800">
                          <a:solidFill>
                            <a:schemeClr val="dk1"/>
                          </a:solidFill>
                        </a:rPr>
                        <a:t>Establishes a clear snapshot of regional NDIS demand and funding pressure using a consistent September 2025 baseline.</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Identifies where regional growth is most likely to strain provider capacity, directly informing workforce and service planning.</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Surfaces thin-market risk in regional South Australia, where lower participant density increases service access vulnerability.</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Provides evidence to support targeted, region-specific policy and commissioning decisions, rather than uniform state-wide responses.</a:t>
                      </a:r>
                      <a:endParaRPr sz="1800"/>
                    </a:p>
                  </a:txBody>
                  <a:tcPr marT="190500" marB="190500" marR="190500" marL="190500">
                    <a:lnL cap="flat" cmpd="sng" w="28575">
                      <a:solidFill>
                        <a:srgbClr val="7C987C"/>
                      </a:solidFill>
                      <a:prstDash val="solid"/>
                      <a:round/>
                      <a:headEnd len="sm" w="sm" type="none"/>
                      <a:tailEnd len="sm" w="sm" type="none"/>
                    </a:lnL>
                    <a:lnR cap="flat" cmpd="sng" w="28575">
                      <a:solidFill>
                        <a:srgbClr val="7C987C"/>
                      </a:solidFill>
                      <a:prstDash val="solid"/>
                      <a:round/>
                      <a:headEnd len="sm" w="sm" type="none"/>
                      <a:tailEnd len="sm" w="sm" type="none"/>
                    </a:lnR>
                    <a:lnT cap="flat" cmpd="sng" w="28575">
                      <a:solidFill>
                        <a:srgbClr val="7C987C"/>
                      </a:solidFill>
                      <a:prstDash val="solid"/>
                      <a:round/>
                      <a:headEnd len="sm" w="sm" type="none"/>
                      <a:tailEnd len="sm" w="sm" type="none"/>
                    </a:lnT>
                    <a:lnB cap="flat" cmpd="sng" w="28575">
                      <a:solidFill>
                        <a:srgbClr val="7C987C"/>
                      </a:solidFill>
                      <a:prstDash val="solid"/>
                      <a:round/>
                      <a:headEnd len="sm" w="sm" type="none"/>
                      <a:tailEnd len="sm" w="sm" type="none"/>
                    </a:lnB>
                    <a:solidFill>
                      <a:srgbClr val="FFFFFF"/>
                    </a:solidFill>
                  </a:tcPr>
                </a:tc>
                <a:tc>
                  <a:txBody>
                    <a:bodyPr/>
                    <a:lstStyle/>
                    <a:p>
                      <a:pPr indent="-342900" lvl="0" marL="457200" rtl="0" algn="l">
                        <a:lnSpc>
                          <a:spcPct val="140000"/>
                        </a:lnSpc>
                        <a:spcBef>
                          <a:spcPts val="0"/>
                        </a:spcBef>
                        <a:spcAft>
                          <a:spcPts val="0"/>
                        </a:spcAft>
                        <a:buClr>
                          <a:schemeClr val="dk1"/>
                        </a:buClr>
                        <a:buSzPts val="1800"/>
                        <a:buChar char="●"/>
                      </a:pPr>
                      <a:r>
                        <a:rPr lang="en-US" sz="1800">
                          <a:solidFill>
                            <a:schemeClr val="dk1"/>
                          </a:solidFill>
                        </a:rPr>
                        <a:t>Based on a single-period baseline, limiting formal predictive accuracy and confidence intervals.</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Broad metro vs regional groupings may mask variation within inner regional, outer regional, and remote areas.</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Uses aggregated participant counts, which do not reflect individual funding intensity or support complexity.</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Privacy masking of small cells introduces minor aggregation error despite midpoint adjustment.</a:t>
                      </a:r>
                      <a:endParaRPr sz="1800"/>
                    </a:p>
                  </a:txBody>
                  <a:tcPr marT="190500" marB="190500" marR="190500" marL="190500">
                    <a:lnL cap="flat" cmpd="sng" w="28575">
                      <a:solidFill>
                        <a:srgbClr val="7C987C"/>
                      </a:solidFill>
                      <a:prstDash val="solid"/>
                      <a:round/>
                      <a:headEnd len="sm" w="sm" type="none"/>
                      <a:tailEnd len="sm" w="sm" type="none"/>
                    </a:lnL>
                    <a:lnR cap="flat" cmpd="sng" w="28575">
                      <a:solidFill>
                        <a:srgbClr val="7C987C"/>
                      </a:solidFill>
                      <a:prstDash val="solid"/>
                      <a:round/>
                      <a:headEnd len="sm" w="sm" type="none"/>
                      <a:tailEnd len="sm" w="sm" type="none"/>
                    </a:lnR>
                    <a:lnT cap="flat" cmpd="sng" w="28575">
                      <a:solidFill>
                        <a:srgbClr val="7C987C"/>
                      </a:solidFill>
                      <a:prstDash val="solid"/>
                      <a:round/>
                      <a:headEnd len="sm" w="sm" type="none"/>
                      <a:tailEnd len="sm" w="sm" type="none"/>
                    </a:lnT>
                    <a:lnB cap="flat" cmpd="sng" w="28575">
                      <a:solidFill>
                        <a:srgbClr val="7C987C"/>
                      </a:solidFill>
                      <a:prstDash val="solid"/>
                      <a:round/>
                      <a:headEnd len="sm" w="sm" type="none"/>
                      <a:tailEnd len="sm" w="sm" type="none"/>
                    </a:lnB>
                    <a:solidFill>
                      <a:srgbClr val="FFFFFF"/>
                    </a:solidFill>
                  </a:tcPr>
                </a:tc>
              </a:tr>
            </a:tbl>
          </a:graphicData>
        </a:graphic>
      </p:graphicFrame>
      <p:sp>
        <p:nvSpPr>
          <p:cNvPr id="252" name="Google Shape;252;g3b76fa3d5dd_0_521"/>
          <p:cNvSpPr txBox="1"/>
          <p:nvPr/>
        </p:nvSpPr>
        <p:spPr>
          <a:xfrm>
            <a:off x="930600" y="45019"/>
            <a:ext cx="9745500" cy="96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100"/>
              <a:buFont typeface="Arial"/>
              <a:buNone/>
            </a:pPr>
            <a:r>
              <a:rPr b="1" i="0" lang="en-US" sz="5100" u="none" cap="none" strike="noStrike">
                <a:solidFill>
                  <a:schemeClr val="dk1"/>
                </a:solidFill>
                <a:latin typeface="Arial"/>
                <a:ea typeface="Arial"/>
                <a:cs typeface="Arial"/>
                <a:sym typeface="Arial"/>
              </a:rPr>
              <a:t>Evaluation of Results</a:t>
            </a:r>
            <a:endParaRPr b="1" i="0" sz="5100" u="none" cap="none" strike="noStrike">
              <a:solidFill>
                <a:schemeClr val="dk1"/>
              </a:solidFill>
              <a:latin typeface="Arial"/>
              <a:ea typeface="Arial"/>
              <a:cs typeface="Arial"/>
              <a:sym typeface="Arial"/>
            </a:endParaRPr>
          </a:p>
        </p:txBody>
      </p:sp>
      <p:sp>
        <p:nvSpPr>
          <p:cNvPr id="253" name="Google Shape;253;g3b76fa3d5dd_0_521"/>
          <p:cNvSpPr txBox="1"/>
          <p:nvPr/>
        </p:nvSpPr>
        <p:spPr>
          <a:xfrm>
            <a:off x="994845" y="845975"/>
            <a:ext cx="11238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lang="en-US" sz="2300">
                <a:solidFill>
                  <a:schemeClr val="lt1"/>
                </a:solidFill>
              </a:rPr>
              <a:t>Business relevance, limitations, and decision context</a:t>
            </a:r>
            <a:endParaRPr b="1" i="0" sz="2300" u="none" cap="none" strike="noStrik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C987C"/>
        </a:solidFill>
      </p:bgPr>
    </p:bg>
    <p:spTree>
      <p:nvGrpSpPr>
        <p:cNvPr id="257" name="Shape 257"/>
        <p:cNvGrpSpPr/>
        <p:nvPr/>
      </p:nvGrpSpPr>
      <p:grpSpPr>
        <a:xfrm>
          <a:off x="0" y="0"/>
          <a:ext cx="0" cy="0"/>
          <a:chOff x="0" y="0"/>
          <a:chExt cx="0" cy="0"/>
        </a:xfrm>
      </p:grpSpPr>
      <p:grpSp>
        <p:nvGrpSpPr>
          <p:cNvPr id="258" name="Google Shape;258;p10"/>
          <p:cNvGrpSpPr/>
          <p:nvPr/>
        </p:nvGrpSpPr>
        <p:grpSpPr>
          <a:xfrm>
            <a:off x="0" y="-289324"/>
            <a:ext cx="18288118" cy="3494834"/>
            <a:chOff x="0" y="-76200"/>
            <a:chExt cx="4816592" cy="920444"/>
          </a:xfrm>
        </p:grpSpPr>
        <p:sp>
          <p:nvSpPr>
            <p:cNvPr id="259" name="Google Shape;259;p10"/>
            <p:cNvSpPr/>
            <p:nvPr/>
          </p:nvSpPr>
          <p:spPr>
            <a:xfrm>
              <a:off x="0" y="0"/>
              <a:ext cx="4816592" cy="844244"/>
            </a:xfrm>
            <a:custGeom>
              <a:rect b="b" l="l" r="r" t="t"/>
              <a:pathLst>
                <a:path extrusionOk="0" h="844244" w="4816592">
                  <a:moveTo>
                    <a:pt x="0" y="0"/>
                  </a:moveTo>
                  <a:lnTo>
                    <a:pt x="4816592" y="0"/>
                  </a:lnTo>
                  <a:lnTo>
                    <a:pt x="4816592" y="844244"/>
                  </a:lnTo>
                  <a:lnTo>
                    <a:pt x="0" y="844244"/>
                  </a:lnTo>
                  <a:close/>
                </a:path>
              </a:pathLst>
            </a:custGeom>
            <a:solidFill>
              <a:srgbClr val="FFFFFF"/>
            </a:solidFill>
            <a:ln>
              <a:noFill/>
            </a:ln>
          </p:spPr>
        </p:sp>
        <p:sp>
          <p:nvSpPr>
            <p:cNvPr id="260" name="Google Shape;260;p10"/>
            <p:cNvSpPr txBox="1"/>
            <p:nvPr/>
          </p:nvSpPr>
          <p:spPr>
            <a:xfrm>
              <a:off x="0" y="-76200"/>
              <a:ext cx="4816500" cy="9204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aphicFrame>
        <p:nvGraphicFramePr>
          <p:cNvPr id="261" name="Google Shape;261;p10"/>
          <p:cNvGraphicFramePr/>
          <p:nvPr/>
        </p:nvGraphicFramePr>
        <p:xfrm>
          <a:off x="586995" y="2752626"/>
          <a:ext cx="3000000" cy="3000000"/>
        </p:xfrm>
        <a:graphic>
          <a:graphicData uri="http://schemas.openxmlformats.org/drawingml/2006/table">
            <a:tbl>
              <a:tblPr>
                <a:noFill/>
                <a:tableStyleId>{3D3182D0-8AAF-4D1C-B93B-24CD85127A34}</a:tableStyleId>
              </a:tblPr>
              <a:tblGrid>
                <a:gridCol w="5142975"/>
              </a:tblGrid>
              <a:tr h="971400">
                <a:tc>
                  <a:txBody>
                    <a:bodyPr/>
                    <a:lstStyle/>
                    <a:p>
                      <a:pPr indent="0" lvl="0" marL="0" marR="0" rtl="0" algn="ctr">
                        <a:lnSpc>
                          <a:spcPct val="140016"/>
                        </a:lnSpc>
                        <a:spcBef>
                          <a:spcPts val="0"/>
                        </a:spcBef>
                        <a:spcAft>
                          <a:spcPts val="0"/>
                        </a:spcAft>
                        <a:buClr>
                          <a:srgbClr val="000000"/>
                        </a:buClr>
                        <a:buSzPts val="2499"/>
                        <a:buFont typeface="Arial"/>
                        <a:buNone/>
                      </a:pPr>
                      <a:r>
                        <a:rPr b="1" lang="en-US" sz="2499">
                          <a:solidFill>
                            <a:srgbClr val="FFFFFF"/>
                          </a:solidFill>
                        </a:rPr>
                        <a:t>Interpretation of key descriptive results (Sep 2025 baseline)</a:t>
                      </a:r>
                      <a:endParaRPr sz="1100" u="none" cap="none" strike="noStrike"/>
                    </a:p>
                  </a:txBody>
                  <a:tcPr marT="143950" marB="143950" marR="143950" marL="1439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365236"/>
                      </a:solidFill>
                      <a:prstDash val="solid"/>
                      <a:round/>
                      <a:headEnd len="sm" w="sm" type="none"/>
                      <a:tailEnd len="sm" w="sm" type="none"/>
                    </a:lnB>
                    <a:solidFill>
                      <a:srgbClr val="365236"/>
                    </a:solidFill>
                  </a:tcPr>
                </a:tc>
              </a:tr>
              <a:tr h="3792275">
                <a:tc>
                  <a:txBody>
                    <a:bodyPr/>
                    <a:lstStyle/>
                    <a:p>
                      <a:pPr indent="-342900" lvl="0" marL="457200" rtl="0" algn="l">
                        <a:lnSpc>
                          <a:spcPct val="140000"/>
                        </a:lnSpc>
                        <a:spcBef>
                          <a:spcPts val="0"/>
                        </a:spcBef>
                        <a:spcAft>
                          <a:spcPts val="0"/>
                        </a:spcAft>
                        <a:buClr>
                          <a:schemeClr val="dk1"/>
                        </a:buClr>
                        <a:buSzPts val="1800"/>
                        <a:buChar char="●"/>
                      </a:pPr>
                      <a:r>
                        <a:rPr lang="en-US" sz="1800">
                          <a:solidFill>
                            <a:schemeClr val="dk1"/>
                          </a:solidFill>
                        </a:rPr>
                        <a:t>The analysis interprets regional NDIS participation in South Australia as lower in absolute terms than Victoria, reflecting population scale rather than reduced service need.</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Aggregated funding estimates indicate lower total regional budgets in South Australia, constraining provider scale and market depth.</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Regression-informed projections suggest sustained growth in regional participant demand under a base-case scenario.</a:t>
                      </a: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t/>
                      </a:r>
                      <a:endParaRPr sz="1800">
                        <a:solidFill>
                          <a:schemeClr val="dk1"/>
                        </a:solidFill>
                      </a:endParaRPr>
                    </a:p>
                  </a:txBody>
                  <a:tcPr marT="143950" marB="143950" marR="143950" marL="1439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365236"/>
                      </a:solidFill>
                      <a:prstDash val="solid"/>
                      <a:round/>
                      <a:headEnd len="sm" w="sm" type="none"/>
                      <a:tailEnd len="sm" w="sm" type="none"/>
                    </a:lnT>
                    <a:lnB cap="flat" cmpd="sng" w="9525">
                      <a:solidFill>
                        <a:srgbClr val="365236"/>
                      </a:solidFill>
                      <a:prstDash val="solid"/>
                      <a:round/>
                      <a:headEnd len="sm" w="sm" type="none"/>
                      <a:tailEnd len="sm" w="sm" type="none"/>
                    </a:lnB>
                    <a:solidFill>
                      <a:srgbClr val="FFFFFF"/>
                    </a:solidFill>
                  </a:tcPr>
                </a:tc>
              </a:tr>
            </a:tbl>
          </a:graphicData>
        </a:graphic>
      </p:graphicFrame>
      <p:grpSp>
        <p:nvGrpSpPr>
          <p:cNvPr id="262" name="Google Shape;262;p10"/>
          <p:cNvGrpSpPr/>
          <p:nvPr/>
        </p:nvGrpSpPr>
        <p:grpSpPr>
          <a:xfrm>
            <a:off x="1035754" y="570340"/>
            <a:ext cx="16216425" cy="1487444"/>
            <a:chOff x="0" y="-104775"/>
            <a:chExt cx="21621900" cy="1983258"/>
          </a:xfrm>
        </p:grpSpPr>
        <p:sp>
          <p:nvSpPr>
            <p:cNvPr id="263" name="Google Shape;263;p10"/>
            <p:cNvSpPr txBox="1"/>
            <p:nvPr/>
          </p:nvSpPr>
          <p:spPr>
            <a:xfrm>
              <a:off x="0" y="-104775"/>
              <a:ext cx="21621900" cy="1313400"/>
            </a:xfrm>
            <a:prstGeom prst="rect">
              <a:avLst/>
            </a:prstGeom>
            <a:noFill/>
            <a:ln>
              <a:noFill/>
            </a:ln>
          </p:spPr>
          <p:txBody>
            <a:bodyPr anchorCtr="0" anchor="t" bIns="0" lIns="0" spcFirstLastPara="1" rIns="0" wrap="square" tIns="0">
              <a:spAutoFit/>
            </a:bodyPr>
            <a:lstStyle/>
            <a:p>
              <a:pPr indent="0" lvl="0" marL="0" marR="0" rtl="0" algn="ctr">
                <a:lnSpc>
                  <a:spcPct val="120003"/>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Brief Summary of Results</a:t>
              </a:r>
              <a:endParaRPr b="0" i="0" sz="1400" u="none" cap="none" strike="noStrike">
                <a:solidFill>
                  <a:srgbClr val="000000"/>
                </a:solidFill>
                <a:latin typeface="Arial"/>
                <a:ea typeface="Arial"/>
                <a:cs typeface="Arial"/>
                <a:sym typeface="Arial"/>
              </a:endParaRPr>
            </a:p>
          </p:txBody>
        </p:sp>
        <p:sp>
          <p:nvSpPr>
            <p:cNvPr id="264" name="Google Shape;264;p10"/>
            <p:cNvSpPr txBox="1"/>
            <p:nvPr/>
          </p:nvSpPr>
          <p:spPr>
            <a:xfrm>
              <a:off x="0" y="1509183"/>
              <a:ext cx="21621900" cy="369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1200"/>
                </a:spcAft>
                <a:buClr>
                  <a:schemeClr val="dk1"/>
                </a:buClr>
                <a:buSzPts val="1100"/>
                <a:buFont typeface="Arial"/>
                <a:buNone/>
              </a:pPr>
              <a:r>
                <a:rPr i="1" lang="en-US" sz="1800">
                  <a:solidFill>
                    <a:schemeClr val="dk1"/>
                  </a:solidFill>
                </a:rPr>
                <a:t>Interpretation and evaluation of analytical outputs</a:t>
              </a:r>
              <a:endParaRPr sz="1800"/>
            </a:p>
          </p:txBody>
        </p:sp>
      </p:grpSp>
      <p:graphicFrame>
        <p:nvGraphicFramePr>
          <p:cNvPr id="265" name="Google Shape;265;p10"/>
          <p:cNvGraphicFramePr/>
          <p:nvPr/>
        </p:nvGraphicFramePr>
        <p:xfrm>
          <a:off x="6477749" y="2752626"/>
          <a:ext cx="3000000" cy="3000000"/>
        </p:xfrm>
        <a:graphic>
          <a:graphicData uri="http://schemas.openxmlformats.org/drawingml/2006/table">
            <a:tbl>
              <a:tblPr>
                <a:noFill/>
                <a:tableStyleId>{3D3182D0-8AAF-4D1C-B93B-24CD85127A34}</a:tableStyleId>
              </a:tblPr>
              <a:tblGrid>
                <a:gridCol w="5272725"/>
              </a:tblGrid>
              <a:tr h="812500">
                <a:tc>
                  <a:txBody>
                    <a:bodyPr/>
                    <a:lstStyle/>
                    <a:p>
                      <a:pPr indent="0" lvl="0" marL="0" marR="0" rtl="0" algn="ctr">
                        <a:lnSpc>
                          <a:spcPct val="140016"/>
                        </a:lnSpc>
                        <a:spcBef>
                          <a:spcPts val="0"/>
                        </a:spcBef>
                        <a:spcAft>
                          <a:spcPts val="0"/>
                        </a:spcAft>
                        <a:buClr>
                          <a:srgbClr val="000000"/>
                        </a:buClr>
                        <a:buSzPts val="2499"/>
                        <a:buFont typeface="Arial"/>
                        <a:buNone/>
                      </a:pPr>
                      <a:r>
                        <a:rPr b="1" lang="en-US" sz="2499">
                          <a:solidFill>
                            <a:srgbClr val="FFFFFF"/>
                          </a:solidFill>
                        </a:rPr>
                        <a:t>Evaluation in relation to the business problem</a:t>
                      </a:r>
                      <a:endParaRPr sz="1100" u="none" cap="none" strike="noStrike"/>
                    </a:p>
                  </a:txBody>
                  <a:tcPr marT="143950" marB="143950" marR="143950" marL="1439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365236"/>
                      </a:solidFill>
                      <a:prstDash val="solid"/>
                      <a:round/>
                      <a:headEnd len="sm" w="sm" type="none"/>
                      <a:tailEnd len="sm" w="sm" type="none"/>
                    </a:lnB>
                    <a:solidFill>
                      <a:srgbClr val="365236"/>
                    </a:solidFill>
                  </a:tcPr>
                </a:tc>
              </a:tr>
              <a:tr h="4177225">
                <a:tc>
                  <a:txBody>
                    <a:bodyPr/>
                    <a:lstStyle/>
                    <a:p>
                      <a:pPr indent="-342900" lvl="0" marL="457200" rtl="0" algn="l">
                        <a:lnSpc>
                          <a:spcPct val="140000"/>
                        </a:lnSpc>
                        <a:spcBef>
                          <a:spcPts val="0"/>
                        </a:spcBef>
                        <a:spcAft>
                          <a:spcPts val="0"/>
                        </a:spcAft>
                        <a:buClr>
                          <a:schemeClr val="dk1"/>
                        </a:buClr>
                        <a:buSzPts val="1800"/>
                        <a:buChar char="●"/>
                      </a:pPr>
                      <a:r>
                        <a:rPr lang="en-US" sz="1800">
                          <a:solidFill>
                            <a:schemeClr val="dk1"/>
                          </a:solidFill>
                        </a:rPr>
                        <a:t>The results evaluate South Australia as facing a higher risk of thin markets, where smaller participant volumes reduce service viability despite comparable need.</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Lower regional budgets per participant highlight potential access and service continuity constraints relative to metropolitan areas.</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Scenario projections demonstrate the importance of anticipatory workforce and provider capacity planning rather than reactive intervention.</a:t>
                      </a:r>
                      <a:endParaRPr sz="1800">
                        <a:solidFill>
                          <a:schemeClr val="dk1"/>
                        </a:solidFill>
                      </a:endParaRPr>
                    </a:p>
                    <a:p>
                      <a:pPr indent="-342900" lvl="0" marL="457200" marR="0" rtl="0" algn="l">
                        <a:lnSpc>
                          <a:spcPct val="140000"/>
                        </a:lnSpc>
                        <a:spcBef>
                          <a:spcPts val="0"/>
                        </a:spcBef>
                        <a:spcAft>
                          <a:spcPts val="0"/>
                        </a:spcAft>
                        <a:buClr>
                          <a:schemeClr val="dk1"/>
                        </a:buClr>
                        <a:buSzPts val="1800"/>
                        <a:buChar char="●"/>
                      </a:pPr>
                      <a:r>
                        <a:t/>
                      </a:r>
                      <a:endParaRPr sz="1800">
                        <a:solidFill>
                          <a:schemeClr val="dk1"/>
                        </a:solidFill>
                      </a:endParaRPr>
                    </a:p>
                  </a:txBody>
                  <a:tcPr marT="143950" marB="143950" marR="143950" marL="1439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365236"/>
                      </a:solidFill>
                      <a:prstDash val="solid"/>
                      <a:round/>
                      <a:headEnd len="sm" w="sm" type="none"/>
                      <a:tailEnd len="sm" w="sm" type="none"/>
                    </a:lnT>
                    <a:lnB cap="flat" cmpd="sng" w="9525">
                      <a:solidFill>
                        <a:srgbClr val="365236"/>
                      </a:solidFill>
                      <a:prstDash val="solid"/>
                      <a:round/>
                      <a:headEnd len="sm" w="sm" type="none"/>
                      <a:tailEnd len="sm" w="sm" type="none"/>
                    </a:lnB>
                    <a:solidFill>
                      <a:srgbClr val="FFFFFF"/>
                    </a:solidFill>
                  </a:tcPr>
                </a:tc>
              </a:tr>
            </a:tbl>
          </a:graphicData>
        </a:graphic>
      </p:graphicFrame>
      <p:graphicFrame>
        <p:nvGraphicFramePr>
          <p:cNvPr id="266" name="Google Shape;266;p10"/>
          <p:cNvGraphicFramePr/>
          <p:nvPr/>
        </p:nvGraphicFramePr>
        <p:xfrm>
          <a:off x="12338959" y="2752626"/>
          <a:ext cx="3000000" cy="3000000"/>
        </p:xfrm>
        <a:graphic>
          <a:graphicData uri="http://schemas.openxmlformats.org/drawingml/2006/table">
            <a:tbl>
              <a:tblPr>
                <a:noFill/>
                <a:tableStyleId>{3D3182D0-8AAF-4D1C-B93B-24CD85127A34}</a:tableStyleId>
              </a:tblPr>
              <a:tblGrid>
                <a:gridCol w="5272725"/>
              </a:tblGrid>
              <a:tr h="812500">
                <a:tc>
                  <a:txBody>
                    <a:bodyPr/>
                    <a:lstStyle/>
                    <a:p>
                      <a:pPr indent="0" lvl="0" marL="0" marR="0" rtl="0" algn="ctr">
                        <a:lnSpc>
                          <a:spcPct val="140016"/>
                        </a:lnSpc>
                        <a:spcBef>
                          <a:spcPts val="0"/>
                        </a:spcBef>
                        <a:spcAft>
                          <a:spcPts val="0"/>
                        </a:spcAft>
                        <a:buClr>
                          <a:srgbClr val="000000"/>
                        </a:buClr>
                        <a:buSzPts val="2499"/>
                        <a:buFont typeface="Arial"/>
                        <a:buNone/>
                      </a:pPr>
                      <a:r>
                        <a:rPr b="1" lang="en-US" sz="2499">
                          <a:solidFill>
                            <a:srgbClr val="FFFFFF"/>
                          </a:solidFill>
                        </a:rPr>
                        <a:t>Justification of analytical relevance</a:t>
                      </a:r>
                      <a:endParaRPr sz="1100" u="none" cap="none" strike="noStrike"/>
                    </a:p>
                  </a:txBody>
                  <a:tcPr marT="143950" marB="143950" marR="143950" marL="1439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365236"/>
                      </a:solidFill>
                      <a:prstDash val="solid"/>
                      <a:round/>
                      <a:headEnd len="sm" w="sm" type="none"/>
                      <a:tailEnd len="sm" w="sm" type="none"/>
                    </a:lnB>
                    <a:solidFill>
                      <a:srgbClr val="365236"/>
                    </a:solidFill>
                  </a:tcPr>
                </a:tc>
              </a:tr>
              <a:tr h="4177225">
                <a:tc>
                  <a:txBody>
                    <a:bodyPr/>
                    <a:lstStyle/>
                    <a:p>
                      <a:pPr indent="-342900" lvl="0" marL="457200" rtl="0" algn="l">
                        <a:lnSpc>
                          <a:spcPct val="140000"/>
                        </a:lnSpc>
                        <a:spcBef>
                          <a:spcPts val="0"/>
                        </a:spcBef>
                        <a:spcAft>
                          <a:spcPts val="0"/>
                        </a:spcAft>
                        <a:buClr>
                          <a:schemeClr val="dk1"/>
                        </a:buClr>
                        <a:buSzPts val="1800"/>
                        <a:buChar char="●"/>
                      </a:pPr>
                      <a:r>
                        <a:rPr lang="en-US" sz="1800">
                          <a:solidFill>
                            <a:schemeClr val="dk1"/>
                          </a:solidFill>
                        </a:rPr>
                        <a:t>These findings justify the use of descriptive and scenario-based analytics to inform equitable service planning across geographic regions.</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The analysis supports evidence-based decision-making for providers and government by identifying where future service gaps are most likely to emerge.</a:t>
                      </a:r>
                      <a:br>
                        <a:rPr lang="en-US" sz="1800">
                          <a:solidFill>
                            <a:schemeClr val="dk1"/>
                          </a:solidFill>
                        </a:rPr>
                      </a:br>
                      <a:endParaRPr sz="1800">
                        <a:solidFill>
                          <a:schemeClr val="dk1"/>
                        </a:solidFill>
                      </a:endParaRPr>
                    </a:p>
                    <a:p>
                      <a:pPr indent="-342900" lvl="0" marL="457200" rtl="0" algn="l">
                        <a:lnSpc>
                          <a:spcPct val="140000"/>
                        </a:lnSpc>
                        <a:spcBef>
                          <a:spcPts val="0"/>
                        </a:spcBef>
                        <a:spcAft>
                          <a:spcPts val="0"/>
                        </a:spcAft>
                        <a:buClr>
                          <a:schemeClr val="dk1"/>
                        </a:buClr>
                        <a:buSzPts val="1800"/>
                        <a:buChar char="●"/>
                      </a:pPr>
                      <a:r>
                        <a:rPr lang="en-US" sz="1800">
                          <a:solidFill>
                            <a:schemeClr val="dk1"/>
                          </a:solidFill>
                        </a:rPr>
                        <a:t>Overall, the results justify targeted policy and market-shaping responses to ensure participant access regardless of location.</a:t>
                      </a:r>
                      <a:endParaRPr sz="1800">
                        <a:solidFill>
                          <a:schemeClr val="dk1"/>
                        </a:solidFill>
                      </a:endParaRPr>
                    </a:p>
                    <a:p>
                      <a:pPr indent="0" lvl="0" marL="457200" marR="0" rtl="0" algn="l">
                        <a:lnSpc>
                          <a:spcPct val="140000"/>
                        </a:lnSpc>
                        <a:spcBef>
                          <a:spcPts val="0"/>
                        </a:spcBef>
                        <a:spcAft>
                          <a:spcPts val="0"/>
                        </a:spcAft>
                        <a:buNone/>
                      </a:pPr>
                      <a:r>
                        <a:t/>
                      </a:r>
                      <a:endParaRPr sz="1800">
                        <a:solidFill>
                          <a:schemeClr val="dk1"/>
                        </a:solidFill>
                      </a:endParaRPr>
                    </a:p>
                    <a:p>
                      <a:pPr indent="0" lvl="0" marL="457200" marR="0" rtl="0" algn="l">
                        <a:lnSpc>
                          <a:spcPct val="140000"/>
                        </a:lnSpc>
                        <a:spcBef>
                          <a:spcPts val="0"/>
                        </a:spcBef>
                        <a:spcAft>
                          <a:spcPts val="0"/>
                        </a:spcAft>
                        <a:buNone/>
                      </a:pPr>
                      <a:r>
                        <a:t/>
                      </a:r>
                      <a:endParaRPr sz="1800">
                        <a:solidFill>
                          <a:schemeClr val="dk1"/>
                        </a:solidFill>
                      </a:endParaRPr>
                    </a:p>
                  </a:txBody>
                  <a:tcPr marT="143950" marB="143950" marR="143950" marL="1439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365236"/>
                      </a:solidFill>
                      <a:prstDash val="solid"/>
                      <a:round/>
                      <a:headEnd len="sm" w="sm" type="none"/>
                      <a:tailEnd len="sm" w="sm" type="none"/>
                    </a:lnT>
                    <a:lnB cap="flat" cmpd="sng" w="9525">
                      <a:solidFill>
                        <a:srgbClr val="365236"/>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C987C"/>
        </a:solidFill>
      </p:bgPr>
    </p:bg>
    <p:spTree>
      <p:nvGrpSpPr>
        <p:cNvPr id="270" name="Shape 270"/>
        <p:cNvGrpSpPr/>
        <p:nvPr/>
      </p:nvGrpSpPr>
      <p:grpSpPr>
        <a:xfrm>
          <a:off x="0" y="0"/>
          <a:ext cx="0" cy="0"/>
          <a:chOff x="0" y="0"/>
          <a:chExt cx="0" cy="0"/>
        </a:xfrm>
      </p:grpSpPr>
      <p:grpSp>
        <p:nvGrpSpPr>
          <p:cNvPr id="271" name="Google Shape;271;g3b76fa3d5dd_0_547"/>
          <p:cNvGrpSpPr/>
          <p:nvPr/>
        </p:nvGrpSpPr>
        <p:grpSpPr>
          <a:xfrm>
            <a:off x="-62" y="-1446394"/>
            <a:ext cx="18288118" cy="3494834"/>
            <a:chOff x="0" y="-76200"/>
            <a:chExt cx="4816592" cy="920444"/>
          </a:xfrm>
        </p:grpSpPr>
        <p:sp>
          <p:nvSpPr>
            <p:cNvPr id="272" name="Google Shape;272;g3b76fa3d5dd_0_547"/>
            <p:cNvSpPr/>
            <p:nvPr/>
          </p:nvSpPr>
          <p:spPr>
            <a:xfrm>
              <a:off x="0" y="0"/>
              <a:ext cx="4816592" cy="844244"/>
            </a:xfrm>
            <a:custGeom>
              <a:rect b="b" l="l" r="r" t="t"/>
              <a:pathLst>
                <a:path extrusionOk="0" h="844244" w="4816592">
                  <a:moveTo>
                    <a:pt x="0" y="0"/>
                  </a:moveTo>
                  <a:lnTo>
                    <a:pt x="4816592" y="0"/>
                  </a:lnTo>
                  <a:lnTo>
                    <a:pt x="4816592" y="844244"/>
                  </a:lnTo>
                  <a:lnTo>
                    <a:pt x="0" y="844244"/>
                  </a:lnTo>
                  <a:close/>
                </a:path>
              </a:pathLst>
            </a:custGeom>
            <a:solidFill>
              <a:srgbClr val="FFFFFF"/>
            </a:solidFill>
            <a:ln>
              <a:noFill/>
            </a:ln>
          </p:spPr>
        </p:sp>
        <p:sp>
          <p:nvSpPr>
            <p:cNvPr id="273" name="Google Shape;273;g3b76fa3d5dd_0_547"/>
            <p:cNvSpPr txBox="1"/>
            <p:nvPr/>
          </p:nvSpPr>
          <p:spPr>
            <a:xfrm>
              <a:off x="0" y="-76200"/>
              <a:ext cx="4816500" cy="9204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4" name="Google Shape;274;g3b76fa3d5dd_0_547"/>
          <p:cNvSpPr txBox="1"/>
          <p:nvPr/>
        </p:nvSpPr>
        <p:spPr>
          <a:xfrm>
            <a:off x="541425" y="570350"/>
            <a:ext cx="17477700" cy="13113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1800"/>
              </a:spcBef>
              <a:spcAft>
                <a:spcPts val="0"/>
              </a:spcAft>
              <a:buClr>
                <a:schemeClr val="dk1"/>
              </a:buClr>
              <a:buSzPts val="1100"/>
              <a:buFont typeface="Arial"/>
              <a:buNone/>
            </a:pPr>
            <a:r>
              <a:rPr b="1" i="0" lang="en-US" sz="5900" u="none" cap="none" strike="noStrike">
                <a:solidFill>
                  <a:schemeClr val="dk1"/>
                </a:solidFill>
                <a:latin typeface="Arial"/>
                <a:ea typeface="Arial"/>
                <a:cs typeface="Arial"/>
                <a:sym typeface="Arial"/>
              </a:rPr>
              <a:t>Reflection: Tools, Techniques, and Peer Review</a:t>
            </a:r>
            <a:endParaRPr b="1" i="0" sz="5900" u="none" cap="none" strike="noStrike">
              <a:solidFill>
                <a:schemeClr val="dk1"/>
              </a:solidFill>
              <a:latin typeface="Arial"/>
              <a:ea typeface="Arial"/>
              <a:cs typeface="Arial"/>
              <a:sym typeface="Arial"/>
            </a:endParaRPr>
          </a:p>
          <a:p>
            <a:pPr indent="0" lvl="0" marL="0" marR="0" rtl="0" algn="l">
              <a:lnSpc>
                <a:spcPct val="120003"/>
              </a:lnSpc>
              <a:spcBef>
                <a:spcPts val="4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3b76fa3d5dd_0_547"/>
          <p:cNvSpPr txBox="1"/>
          <p:nvPr/>
        </p:nvSpPr>
        <p:spPr>
          <a:xfrm>
            <a:off x="695325" y="2296100"/>
            <a:ext cx="17135400" cy="727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2100">
                <a:solidFill>
                  <a:schemeClr val="dk1"/>
                </a:solidFill>
              </a:rPr>
              <a:t>Evaluation of tools and methods</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Excel and Power BI were effective for cleaning, aggregating, and analysing privacy-masked NDIS data at scale.</a:t>
            </a:r>
            <a:br>
              <a:rPr lang="en-US" sz="2100">
                <a:solidFill>
                  <a:schemeClr val="dk1"/>
                </a:solidFill>
              </a:rPr>
            </a:b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Visual analytics improved interpretation, enabling clear communication of regional service pressures to non-technical stakeholders.</a:t>
            </a:r>
            <a:br>
              <a:rPr lang="en-US" sz="2100">
                <a:solidFill>
                  <a:schemeClr val="dk1"/>
                </a:solidFill>
              </a:rPr>
            </a:b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Regression-informed, scenario-based forecasting was justified and appropriate given limited historical regional time-series data.</a:t>
            </a:r>
            <a:br>
              <a:rPr lang="en-US" sz="2100">
                <a:solidFill>
                  <a:schemeClr val="dk1"/>
                </a:solidFill>
              </a:rPr>
            </a:br>
            <a:endParaRPr sz="2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100">
                <a:solidFill>
                  <a:schemeClr val="dk1"/>
                </a:solidFill>
              </a:rPr>
              <a:t>Limitations and improvement</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Aggregated data limits evaluation of individual funding intensity and service complexity.</a:t>
            </a:r>
            <a:br>
              <a:rPr lang="en-US" sz="2100">
                <a:solidFill>
                  <a:schemeClr val="dk1"/>
                </a:solidFill>
              </a:rPr>
            </a:b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Reliance on a single baseline snapshot </a:t>
            </a:r>
            <a:r>
              <a:rPr lang="en-US" sz="2100">
                <a:solidFill>
                  <a:schemeClr val="dk1"/>
                </a:solidFill>
              </a:rPr>
              <a:t>constraints</a:t>
            </a:r>
            <a:r>
              <a:rPr lang="en-US" sz="2100">
                <a:solidFill>
                  <a:schemeClr val="dk1"/>
                </a:solidFill>
              </a:rPr>
              <a:t> forecast accuracy.</a:t>
            </a:r>
            <a:br>
              <a:rPr lang="en-US" sz="2100">
                <a:solidFill>
                  <a:schemeClr val="dk1"/>
                </a:solidFill>
              </a:rPr>
            </a:br>
            <a:endParaRPr sz="2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100">
                <a:solidFill>
                  <a:schemeClr val="dk1"/>
                </a:solidFill>
              </a:rPr>
              <a:t>Peer review reflection</a:t>
            </a:r>
            <a:endParaRPr b="1"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Peer discussion refined the business problem, particularly the identification of thin markets in regional areas.</a:t>
            </a:r>
            <a:br>
              <a:rPr lang="en-US" sz="2100">
                <a:solidFill>
                  <a:schemeClr val="dk1"/>
                </a:solidFill>
              </a:rPr>
            </a:b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Feedback strengthened justification of assumptions, limitations, and validation checks, improving analytical credibility and alignment with objectives.</a:t>
            </a:r>
            <a:endParaRPr b="1" sz="2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C987C"/>
        </a:solidFill>
      </p:bgPr>
    </p:bg>
    <p:spTree>
      <p:nvGrpSpPr>
        <p:cNvPr id="279" name="Shape 279"/>
        <p:cNvGrpSpPr/>
        <p:nvPr/>
      </p:nvGrpSpPr>
      <p:grpSpPr>
        <a:xfrm>
          <a:off x="0" y="0"/>
          <a:ext cx="0" cy="0"/>
          <a:chOff x="0" y="0"/>
          <a:chExt cx="0" cy="0"/>
        </a:xfrm>
      </p:grpSpPr>
      <p:sp>
        <p:nvSpPr>
          <p:cNvPr id="280" name="Google Shape;280;g3b76fa3d5dd_0_569"/>
          <p:cNvSpPr txBox="1"/>
          <p:nvPr/>
        </p:nvSpPr>
        <p:spPr>
          <a:xfrm>
            <a:off x="761375" y="3705350"/>
            <a:ext cx="16699500" cy="1662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600"/>
              <a:buFont typeface="Arial"/>
              <a:buNone/>
            </a:pPr>
            <a:r>
              <a:rPr b="1" i="0" lang="en-US" sz="9600" u="none" cap="none" strike="noStrike">
                <a:solidFill>
                  <a:schemeClr val="lt1"/>
                </a:solidFill>
                <a:latin typeface="Caveat"/>
                <a:ea typeface="Caveat"/>
                <a:cs typeface="Caveat"/>
                <a:sym typeface="Caveat"/>
              </a:rPr>
              <a:t>Thank you!</a:t>
            </a:r>
            <a:endParaRPr b="1" i="0" sz="9600" u="none" cap="none" strike="noStrike">
              <a:solidFill>
                <a:schemeClr val="lt1"/>
              </a:solidFill>
              <a:latin typeface="Caveat"/>
              <a:ea typeface="Caveat"/>
              <a:cs typeface="Caveat"/>
              <a:sym typeface="Cave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